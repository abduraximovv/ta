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</c:v>
                </c:pt>
              </c:strCache>
            </c:strRef>
          </c:tx>
          <c:spPr>
            <a:solidFill>
              <a:srgbClr val="0A23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A232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23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6B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87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260</c:v>
                </c:pt>
                <c:pt idx="2">
                  <c:v>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A232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4A4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9F8F5"/>
        </a:solidFill>
        <a:ln>
          <a:noFill/>
        </a:ln>
        <a:effectLst/>
      </c:spPr>
    </c:plotArea>
    <c:plotVisOnly val="1"/>
    <c:dispBlanksAs val="span"/>
  </c:chart>
  <c:spPr>
    <a:solidFill>
      <a:srgbClr val="F9F8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yourself, name the project and establish the scale immediately: this is not an app, it is sector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we are not selling a service for tourists, we are selling the ability to govern the sector.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now: the window is open right now — the arrivals already exist, the infrastructure to serve them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five problems as gaps rather than complaints: each gap is closed by a specific portal later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Central argument: this is not four applications but one organism. The value comes from the connectivity.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scenario — worth walking through live after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levels 1–3 constitute the MVP. Level 4 requires state partnership and funding.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Levels 1–2 are already in the MVP. T6–T8 are the post-launch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social argument for the state — formalising the rural economy.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A6 and A7 require access to state systems — that forms part of the request to the ministry.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pivotal slide for this audience. The state gains an instrument of governance, not merely another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AI is applied, not ornamental: each feature closes a measurable barrier.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tie the project directly to the standing national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features are precisely what cannot be built without state participation and funding.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slide. Do not go deeper unless the audience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government audience, personal data protection is among the first questions. Answer it before it is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strongest credibility argument: the team has already invested its own work and brought the product to a running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money is tied to specific dates and deliverables rather than to abstract “development”.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first-90-day figures are deliberately conservative — they are verifiable rather than promotional.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everything in terms of public benefit: tax base, heritage, employment,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risks openly builds more confidence than leaving them unspoken.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IMPORTANT: insert the final amount requested. The percentages here describe the structure of the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Offer the live demonstration immediately — it moves the conversation from presentation to specifics.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compass.png">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7818120" y="502920"/>
            <a:ext cx="5852160" cy="5852160"/>
          </a:xfrm>
          <a:prstGeom prst="rect">
            <a:avLst/>
          </a:prstGeom>
        </p:spPr>
      </p:pic>
      <p:pic>
        <p:nvPicPr>
          <p:cNvPr id="4" name="Image 2" descr="assets/logo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98448"/>
            <a:ext cx="4160520" cy="13167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77240" y="2999232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National digital infrastructure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Uzbekistan’s tourism sector</a:t>
            </a: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777240" y="449884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connecting the international traveller, the rural service provider, the tour operator and the state within one digital perimeter.</a:t>
            </a:r>
            <a:endParaRPr lang="en-US" sz="1350" dirty="0"/>
          </a:p>
        </p:txBody>
      </p:sp>
      <p:sp>
        <p:nvSpPr>
          <p:cNvPr id="7" name="Shape 2"/>
          <p:cNvSpPr/>
          <p:nvPr/>
        </p:nvSpPr>
        <p:spPr>
          <a:xfrm>
            <a:off x="777240" y="5559552"/>
            <a:ext cx="6858000" cy="0"/>
          </a:xfrm>
          <a:prstGeom prst="line">
            <a:avLst/>
          </a:prstGeom>
          <a:noFill/>
          <a:ln w="11430">
            <a:solidFill>
              <a:srgbClr val="2A4A44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77240" y="5742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FOR STATE FUNDING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777240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Tashkent  ·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IN BRIEF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platform — four portals — the entire sector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77240" y="17830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moves Uzbekistan’s tourism sector out of phone calls and cash payments and into a single digital ecosystem: transparent statistics for the state, guaranteed quality for the traveller, and legal income for rural communities.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77240" y="3063240"/>
            <a:ext cx="24871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69848" y="3273552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069848" y="39684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INTERCONNECTED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88436" y="3063240"/>
            <a:ext cx="24871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781044" y="3273552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781044" y="39684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 THE FULL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SCOPE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99632" y="3063240"/>
            <a:ext cx="24871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3273552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492240" y="39684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LANGUAGES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MVP, 6 AT LAUNCH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10828" y="3063240"/>
            <a:ext cx="24871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203436" y="3273552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203436" y="396849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IN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ECONOMY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77240" y="50292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receives not a report, but a live stream of data on where travellers are, what they spend and which services are actually delivered on the ground.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sector is growing faster than its infrastructure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77240" y="1920240"/>
            <a:ext cx="24871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22128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9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11.7M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1051560" y="290779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TRAVELLERS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 UZBEKISTAN IN 2025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051560" y="3529584"/>
            <a:ext cx="193852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3621024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+46.8% year on year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88436" y="1920240"/>
            <a:ext cx="24871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62756" y="22128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9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$4.4B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3762756" y="290779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SERVICES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DURING 2025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762756" y="3529584"/>
            <a:ext cx="193852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62756" y="3621024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7 worldwide by growth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99632" y="1920240"/>
            <a:ext cx="24871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73952" y="22128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9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20M</a:t>
            </a:r>
            <a:endParaRPr lang="en-US" sz="2900" dirty="0"/>
          </a:p>
        </p:txBody>
      </p:sp>
      <p:sp>
        <p:nvSpPr>
          <p:cNvPr id="17" name="Text 14"/>
          <p:cNvSpPr/>
          <p:nvPr/>
        </p:nvSpPr>
        <p:spPr>
          <a:xfrm>
            <a:off x="6473952" y="290779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ARRIVALS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73952" y="3529584"/>
            <a:ext cx="193852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73952" y="3621024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objective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910828" y="1920240"/>
            <a:ext cx="24871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185148" y="22128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9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$6B</a:t>
            </a:r>
            <a:endParaRPr lang="en-US" sz="2900" dirty="0"/>
          </a:p>
        </p:txBody>
      </p:sp>
      <p:sp>
        <p:nvSpPr>
          <p:cNvPr id="22" name="Text 19"/>
          <p:cNvSpPr/>
          <p:nvPr/>
        </p:nvSpPr>
        <p:spPr>
          <a:xfrm>
            <a:off x="9185148" y="290779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SERVICE EXPORTS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b="1" spc="14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185148" y="3529584"/>
            <a:ext cx="193852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85148" y="3621024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1.4-fold increase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77240" y="4407408"/>
            <a:ext cx="10637215" cy="1298448"/>
          </a:xfrm>
          <a:prstGeom prst="roundRect">
            <a:avLst>
              <a:gd name="adj" fmla="val 4225"/>
            </a:avLst>
          </a:prstGeom>
          <a:solidFill>
            <a:srgbClr val="0A2320"/>
          </a:solidFill>
          <a:ln/>
        </p:spPr>
      </p:sp>
      <p:pic>
        <p:nvPicPr>
          <p:cNvPr id="26" name="Image 1" descr="assets/compass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9829800" y="4133088"/>
            <a:ext cx="1920240" cy="19202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88720" y="4572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that has to be closed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1188720" y="4901184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grew by almost half in a single year, yet rural bookings still run on phone calls and cash. Digitalisation lags behind demand — and that is precisely what constrains both service quality and the sector’s tax base.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777240" y="58155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UN Tourism / Uzbektourism, 2025–2026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gaps holding the sector back</a:t>
            </a:r>
            <a:endParaRPr lang="en-US" sz="3300" dirty="0"/>
          </a:p>
        </p:txBody>
      </p:sp>
      <p:pic>
        <p:nvPicPr>
          <p:cNvPr id="5" name="Image 1" descr="assets/compass.png">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9509760" y="457200"/>
            <a:ext cx="3108960" cy="31089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77240" y="1956816"/>
            <a:ext cx="3392424" cy="1773936"/>
          </a:xfrm>
          <a:prstGeom prst="roundRect">
            <a:avLst>
              <a:gd name="adj" fmla="val 309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51560" y="2212848"/>
            <a:ext cx="384048" cy="384048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5156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563624" y="22311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rural digital divide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51560" y="2724912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Yurt owners, artisans and guides have no booking systems. Only phone calls and cash — entirely outside the formal economy.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434840" y="1956816"/>
            <a:ext cx="3392424" cy="1773936"/>
          </a:xfrm>
          <a:prstGeom prst="roundRect">
            <a:avLst>
              <a:gd name="adj" fmla="val 309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09160" y="2212848"/>
            <a:ext cx="384048" cy="384048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0916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221224" y="22311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overload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09160" y="2724912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60% of a DMC manager’s working time goes to calling providers, filling E-Mehmon forms by hand and building itineraries in Excel.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92440" y="1956816"/>
            <a:ext cx="3392424" cy="1773936"/>
          </a:xfrm>
          <a:prstGeom prst="roundRect">
            <a:avLst>
              <a:gd name="adj" fmla="val 309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2212848"/>
            <a:ext cx="384048" cy="384048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6676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878824" y="22311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arrivals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366760" y="2724912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 cluster around five monuments. Regions with authentic culture stay unreached and unmonetised.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77240" y="3931920"/>
            <a:ext cx="3392424" cy="1773936"/>
          </a:xfrm>
          <a:prstGeom prst="roundRect">
            <a:avLst>
              <a:gd name="adj" fmla="val 309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51560" y="4187952"/>
            <a:ext cx="384048" cy="384048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5156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563624" y="4206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penalty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051560" y="4700016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high-quality travel is available only through expensive agencies. Budget travellers are left without navigation or language.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434840" y="3931920"/>
            <a:ext cx="3392424" cy="1773936"/>
          </a:xfrm>
          <a:prstGeom prst="roundRect">
            <a:avLst>
              <a:gd name="adj" fmla="val 309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709160" y="4187952"/>
            <a:ext cx="384048" cy="384048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0916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221224" y="4206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return rate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709160" y="4700016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identical route for everyone creates a sense that the country has been “completed”. With no showcase of live local events, there is no reason to return.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portals on a single data core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77240" y="171907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in the sector gets its own interface, but all of them work against one database. An action taken in one portal is instantly visible in all the others.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77240" y="2487168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69848" y="2724912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69848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69848" y="32552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69848" y="352958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" kern="0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· mobile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" y="378561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navigation,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booking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88436" y="2487168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81044" y="2724912"/>
            <a:ext cx="402336" cy="402336"/>
          </a:xfrm>
          <a:prstGeom prst="ellipse">
            <a:avLst/>
          </a:prstGeom>
          <a:ln w="13970">
            <a:solidFill>
              <a:srgbClr val="A887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81044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81044" y="32552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81044" y="352958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· simplified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81044" y="378561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status, requests,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listings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99632" y="2487168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92240" y="2724912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92240" y="32552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AGENCY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92240" y="352958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" kern="0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workstation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92240" y="378561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inventory, CRM,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builder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910828" y="2487168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03436" y="2724912"/>
            <a:ext cx="402336" cy="402336"/>
          </a:xfrm>
          <a:prstGeom prst="ellipse">
            <a:avLst/>
          </a:prstGeom>
          <a:ln w="13970">
            <a:solidFill>
              <a:srgbClr val="0A23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03436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203436" y="32552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203436" y="352958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analytics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203436" y="378561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analytics,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reporting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77240" y="4590288"/>
            <a:ext cx="10637215" cy="1060704"/>
          </a:xfrm>
          <a:prstGeom prst="roundRect">
            <a:avLst>
              <a:gd name="adj" fmla="val 5172"/>
            </a:avLst>
          </a:prstGeom>
          <a:solidFill>
            <a:srgbClr val="0A2320"/>
          </a:solidFill>
          <a:ln/>
        </p:spPr>
      </p:sp>
      <p:sp>
        <p:nvSpPr>
          <p:cNvPr id="31" name="Text 28"/>
          <p:cNvSpPr/>
          <p:nvPr/>
        </p:nvSpPr>
        <p:spPr>
          <a:xfrm>
            <a:off x="1188720" y="4773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CORE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188720" y="5120640"/>
            <a:ext cx="17799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151571" y="5120640"/>
            <a:ext cx="17799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access control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114422" y="5120640"/>
            <a:ext cx="17799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077273" y="5120640"/>
            <a:ext cx="17799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9040124" y="5120640"/>
            <a:ext cx="17799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booking travels through the whole ecosystem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77240" y="2212848"/>
            <a:ext cx="1664208" cy="2139696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99032" y="2432304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99032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23544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05256" y="3273552"/>
            <a:ext cx="1408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yurt owner in Nurata taps “Online” — a single button.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395728" y="3063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578608" y="2212848"/>
            <a:ext cx="1664208" cy="2139696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2432304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24912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06624" y="3273552"/>
            <a:ext cx="1408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DMC manager sees him in the live inventory at once and adds him to an itinerary.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97096" y="3063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379976" y="2212848"/>
            <a:ext cx="1664208" cy="2139696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01768" y="2432304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01768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26280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07992" y="3273552"/>
            <a:ext cx="1408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traveller finds the same site under “Hidden Uzbekistan” and books it.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98464" y="3063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181344" y="2212848"/>
            <a:ext cx="1664208" cy="2139696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03136" y="2432304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03136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27648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09360" y="3273552"/>
            <a:ext cx="1408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notification arrives: accept or decline in one tap.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799832" y="3063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7982712" y="2212848"/>
            <a:ext cx="1664208" cy="2139696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604504" y="2432304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604504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129016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110728" y="3273552"/>
            <a:ext cx="1408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enters analytics: GMV, region, service category.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9601200" y="3063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9784080" y="2212848"/>
            <a:ext cx="1664208" cy="2139696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10405872" y="2432304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405872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930384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9912096" y="3273552"/>
            <a:ext cx="1408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data automatically generates the E-Mehmon return.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777240" y="4681728"/>
            <a:ext cx="10637215" cy="859536"/>
          </a:xfrm>
          <a:prstGeom prst="roundRect">
            <a:avLst>
              <a:gd name="adj" fmla="val 6383"/>
            </a:avLst>
          </a:prstGeom>
          <a:solidFill>
            <a:srgbClr val="F1EEE6"/>
          </a:solidFill>
          <a:ln w="9525">
            <a:solidFill>
              <a:srgbClr val="E2DED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88720" y="4681728"/>
            <a:ext cx="981425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phone call. Not one cash payment outside the books. Not one form filled in by hand.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SCOPE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8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levels of maturity — 24 features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77240" y="16276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slides that follow detail every feature. Below is the overall map.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77240" y="2103120"/>
            <a:ext cx="10637215" cy="896112"/>
          </a:xfrm>
          <a:prstGeom prst="roundRect">
            <a:avLst>
              <a:gd name="adj" fmla="val 6122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1288" y="2286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61288" y="2560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Foundation and trust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069080" y="24140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94960" y="2377440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translator, authentication for every role, PWA install by QR code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3127248"/>
            <a:ext cx="10637215" cy="896112"/>
          </a:xfrm>
          <a:prstGeom prst="roundRect">
            <a:avLst>
              <a:gd name="adj" fmla="val 6122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1288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61288" y="35844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Engagement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069080" y="34381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94960" y="340156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provider status, bookings, CRM, menu scanner, notifications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7240" y="4151376"/>
            <a:ext cx="10637215" cy="896112"/>
          </a:xfrm>
          <a:prstGeom prst="roundRect">
            <a:avLst>
              <a:gd name="adj" fmla="val 6122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61288" y="4334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61288" y="46085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Ecosystem connectivity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069080" y="44622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94960" y="4425696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analytics, heatmaps, AI itinerary builder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77240" y="5175504"/>
            <a:ext cx="10637215" cy="896112"/>
          </a:xfrm>
          <a:prstGeom prst="roundRect">
            <a:avLst>
              <a:gd name="adj" fmla="val 6122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61288" y="5358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61288" y="56327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 perimeter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4069080" y="54864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94960" y="5449824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E-Mehmon automation, arrival redistribution, B2B resource pooling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1 OF 4  ·  B2C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Traveller: safety, language, discovery</a:t>
            </a:r>
            <a:endParaRPr lang="en-US" sz="3200" dirty="0"/>
          </a:p>
        </p:txBody>
      </p:sp>
      <p:pic>
        <p:nvPicPr>
          <p:cNvPr id="5" name="Image 1" descr="assets/compass_emerald.png">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10195560" y="566928"/>
            <a:ext cx="1783080" cy="1783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77240" y="1920240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362456" y="1883664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Map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362456" y="2130552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points, clean restrooms, pharmacies, ATMs, Wi-Fi, cultural sites and festivals. Works offline.</a:t>
            </a:r>
            <a:endParaRPr lang="en-US" sz="980" dirty="0"/>
          </a:p>
        </p:txBody>
      </p:sp>
      <p:sp>
        <p:nvSpPr>
          <p:cNvPr id="10" name="Shape 6"/>
          <p:cNvSpPr/>
          <p:nvPr/>
        </p:nvSpPr>
        <p:spPr>
          <a:xfrm>
            <a:off x="6370168" y="1920240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70168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955384" y="1883664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&amp; Trust menu scanner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955384" y="2130552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 menu in Uzbek or Russian → AI translates each dish, explains the ingredients and flags allergens.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777240" y="3035808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362456" y="2999232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Uzbekistan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362456" y="3246120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showcase of authentic experiences direct from verified rural providers: masterclasses, yurt stays, active travel.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6370168" y="3035808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70168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6955384" y="2999232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translator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955384" y="3246120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voice tuned to real situations: bargaining at the bazaar, taxis, explaining dietary needs. Core phrases offline.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777240" y="4151376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77240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362456" y="4114800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profile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1362456" y="4361688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in under a minute, Google sign-in, saved itineraries and bookings.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6370168" y="4151376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370168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6955384" y="4114800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notifications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955384" y="4361688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about what is happening nearby: a concert, a fair, a site closure, a weather warning.</a:t>
            </a:r>
            <a:endParaRPr lang="en-US" sz="980" dirty="0"/>
          </a:p>
        </p:txBody>
      </p:sp>
      <p:sp>
        <p:nvSpPr>
          <p:cNvPr id="30" name="Shape 26"/>
          <p:cNvSpPr/>
          <p:nvPr/>
        </p:nvSpPr>
        <p:spPr>
          <a:xfrm>
            <a:off x="777240" y="5266944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77240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1362456" y="5230368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 map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1362456" y="5477256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heatmap showing where things are happening — and where it has simply become too crowded.</a:t>
            </a:r>
            <a:endParaRPr lang="en-US" sz="980" dirty="0"/>
          </a:p>
        </p:txBody>
      </p:sp>
      <p:sp>
        <p:nvSpPr>
          <p:cNvPr id="34" name="Shape 30"/>
          <p:cNvSpPr/>
          <p:nvPr/>
        </p:nvSpPr>
        <p:spPr>
          <a:xfrm>
            <a:off x="6370168" y="5266944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370168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6955384" y="5230368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Passport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6955384" y="5477256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stamps for visiting lesser-known places — a mechanic that motivates travel into the regions.</a:t>
            </a:r>
            <a:endParaRPr lang="en-US" sz="980" dirty="0"/>
          </a:p>
        </p:txBody>
      </p:sp>
      <p:sp>
        <p:nvSpPr>
          <p:cNvPr id="38" name="Text 34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2 OF 4  ·  B2B/C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Provider: rural business enters the digital economy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77240" y="173736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is designed for a user with basic digital skills, an inexpensive Android and unreliable 3G. The main screen is a single button.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77240" y="2542032"/>
            <a:ext cx="402336" cy="402336"/>
          </a:xfrm>
          <a:prstGeom prst="ellipse">
            <a:avLst/>
          </a:prstGeom>
          <a:ln w="13970">
            <a:solidFill>
              <a:srgbClr val="A887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362456" y="2505456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toggle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62456" y="2752344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for “Online” or “Offline”. The status propagates across every portal in under a second.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777240" y="3291840"/>
            <a:ext cx="402336" cy="402336"/>
          </a:xfrm>
          <a:prstGeom prst="ellipse">
            <a:avLst/>
          </a:prstGeom>
          <a:ln w="13970">
            <a:solidFill>
              <a:srgbClr val="A887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362456" y="325526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management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362456" y="3502152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on a request, accept or decline in one click, a list of confirmed orders.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777240" y="4041648"/>
            <a:ext cx="402336" cy="402336"/>
          </a:xfrm>
          <a:prstGeom prst="ellipse">
            <a:avLst/>
          </a:prstGeom>
          <a:ln w="13970">
            <a:solidFill>
              <a:srgbClr val="A887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362456" y="4005072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listing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362456" y="4251960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upload, price, duration, capacity. AI translates the description into English and Russian automatically.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777240" y="4791456"/>
            <a:ext cx="402336" cy="402336"/>
          </a:xfrm>
          <a:prstGeom prst="ellipse">
            <a:avLst/>
          </a:prstGeom>
          <a:ln w="13970">
            <a:solidFill>
              <a:srgbClr val="A887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791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362456" y="4754880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registration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362456" y="5001768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 and service type only. Confirmation by SMS code, with no complex forms.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777240" y="5541264"/>
            <a:ext cx="402336" cy="402336"/>
          </a:xfrm>
          <a:prstGeom prst="ellipse">
            <a:avLst/>
          </a:prstGeom>
          <a:ln w="13970">
            <a:solidFill>
              <a:srgbClr val="A887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5541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362456" y="5504688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standardisation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362456" y="5751576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brings listings to a consistent quality: it flags missing details and suggests a market-appropriate price.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6812280" y="1737360"/>
            <a:ext cx="4602175" cy="3986784"/>
          </a:xfrm>
          <a:prstGeom prst="roundRect">
            <a:avLst>
              <a:gd name="adj" fmla="val 1376"/>
            </a:avLst>
          </a:prstGeom>
          <a:solidFill>
            <a:srgbClr val="0A2320"/>
          </a:solidFill>
          <a:ln/>
        </p:spPr>
      </p:sp>
      <p:pic>
        <p:nvPicPr>
          <p:cNvPr id="27" name="Image 1" descr="assets/compass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9311335" y="3931920"/>
            <a:ext cx="2377440" cy="23774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96328" y="1975104"/>
            <a:ext cx="3834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changes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7196328" y="2542032"/>
            <a:ext cx="3834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shadow to record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7196328" y="2788920"/>
            <a:ext cx="383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settlement is replaced by a transaction visible to the platform and to the state alike.</a:t>
            </a:r>
            <a:endParaRPr lang="en-US" sz="980" dirty="0"/>
          </a:p>
        </p:txBody>
      </p:sp>
      <p:sp>
        <p:nvSpPr>
          <p:cNvPr id="31" name="Text 27"/>
          <p:cNvSpPr/>
          <p:nvPr/>
        </p:nvSpPr>
        <p:spPr>
          <a:xfrm>
            <a:off x="7196328" y="3328416"/>
            <a:ext cx="3834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without a middleman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7196328" y="3575304"/>
            <a:ext cx="383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receives orders directly from travellers and agencies, not only through personal contacts.</a:t>
            </a:r>
            <a:endParaRPr lang="en-US" sz="980" dirty="0"/>
          </a:p>
        </p:txBody>
      </p:sp>
      <p:sp>
        <p:nvSpPr>
          <p:cNvPr id="33" name="Text 29"/>
          <p:cNvSpPr/>
          <p:nvPr/>
        </p:nvSpPr>
        <p:spPr>
          <a:xfrm>
            <a:off x="7196328" y="4114800"/>
            <a:ext cx="3834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stays in the region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7196328" y="4361688"/>
            <a:ext cx="383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remains where the service was delivered instead of settling in capital-city intermediation.</a:t>
            </a:r>
            <a:endParaRPr lang="en-US" sz="980" dirty="0"/>
          </a:p>
        </p:txBody>
      </p:sp>
      <p:sp>
        <p:nvSpPr>
          <p:cNvPr id="35" name="Text 31"/>
          <p:cNvSpPr/>
          <p:nvPr/>
        </p:nvSpPr>
        <p:spPr>
          <a:xfrm>
            <a:off x="7196328" y="4901184"/>
            <a:ext cx="3834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barrier to entry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7196328" y="5148072"/>
            <a:ext cx="3834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takes under two minutes and requires neither an accountant nor a computer.</a:t>
            </a:r>
            <a:endParaRPr lang="en-US" sz="980" dirty="0"/>
          </a:p>
        </p:txBody>
      </p:sp>
      <p:sp>
        <p:nvSpPr>
          <p:cNvPr id="37" name="Text 33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3 OF 4  ·  B2B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Travel agency: the operator’s workstation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77240" y="1828800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362456" y="1792224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provider inventory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62456" y="2039112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availability dashboard in place of phone calls. Filters by category, region, price and rating.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6370168" y="1828800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70168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955384" y="1792224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CRM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955384" y="2039112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in one place with a full status history: pending → accepted → confirmed → completed.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77240" y="2889504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362456" y="2852928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builder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362456" y="3099816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tour day by day with automatic price recalculation, PDF export and a shareable client link.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6370168" y="2889504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0168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955384" y="2852928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account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955384" y="3099816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 by licence, staff invitations, role-based access control.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777240" y="3950208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362456" y="3913632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AI itinerary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362456" y="4160520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and traveller edit the itinerary at the same time; AI proposes substitutions against budget and logistics.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6370168" y="3950208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70168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955384" y="3913632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E-Mehmon automation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955384" y="4160520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recognition, auto-fill and export of guest data into the state registration system.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777240" y="5010912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5010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362456" y="4974336"/>
            <a:ext cx="445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pooling between agencies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362456" y="5221224"/>
            <a:ext cx="445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idle guide, coach seat or hotel room passes to another operator through a secure B2B exchange.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6370168" y="5138928"/>
            <a:ext cx="5044288" cy="713232"/>
          </a:xfrm>
          <a:prstGeom prst="roundRect">
            <a:avLst>
              <a:gd name="adj" fmla="val 7692"/>
            </a:avLst>
          </a:prstGeom>
          <a:solidFill>
            <a:srgbClr val="EFEEE7"/>
          </a:solidFill>
          <a:ln w="9525">
            <a:solidFill>
              <a:srgbClr val="E2DED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44488" y="5266944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i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cut an agency’s operating costs by roughly half by removing manual work.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4 OF 4  ·  B2G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Government: the sector becomes observable</a:t>
            </a:r>
            <a:endParaRPr lang="en-US" sz="3200" dirty="0"/>
          </a:p>
        </p:txBody>
      </p:sp>
      <p:pic>
        <p:nvPicPr>
          <p:cNvPr id="5" name="Image 1" descr="assets/compass.png">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9966960" y="3931920"/>
            <a:ext cx="2743200" cy="2743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77240" y="1883664"/>
            <a:ext cx="3375050" cy="1920240"/>
          </a:xfrm>
          <a:prstGeom prst="roundRect">
            <a:avLst>
              <a:gd name="adj" fmla="val 2857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88136" y="2121408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8136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88136" y="2670048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hub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088136" y="2999232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review and admission of rural providers and agencies onto the platform. Quality control and traveller safety.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408322" y="1883664"/>
            <a:ext cx="3375050" cy="1920240"/>
          </a:xfrm>
          <a:prstGeom prst="roundRect">
            <a:avLst>
              <a:gd name="adj" fmla="val 2857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19218" y="2121408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19218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19218" y="2670048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analytics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719218" y="2999232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travellers, verified providers, bookings, GMV, trends by region and by service category.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39405" y="1883664"/>
            <a:ext cx="3375050" cy="1920240"/>
          </a:xfrm>
          <a:prstGeom prst="roundRect">
            <a:avLst>
              <a:gd name="adj" fmla="val 2857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50301" y="2121408"/>
            <a:ext cx="420624" cy="420624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50301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350301" y="2670048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heatmap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8350301" y="2999232"/>
            <a:ext cx="2753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geodata from active sessions reveals genuine traveller density and infrastructure bottlenecks.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77240" y="407822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that nobody has today</a:t>
            </a:r>
            <a:endParaRPr lang="en-US" sz="2100" dirty="0"/>
          </a:p>
        </p:txBody>
      </p:sp>
      <p:sp>
        <p:nvSpPr>
          <p:cNvPr id="22" name="Shape 18"/>
          <p:cNvSpPr/>
          <p:nvPr/>
        </p:nvSpPr>
        <p:spPr>
          <a:xfrm>
            <a:off x="777240" y="4718304"/>
            <a:ext cx="100584" cy="100584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3" name="Text 19"/>
          <p:cNvSpPr/>
          <p:nvPr/>
        </p:nvSpPr>
        <p:spPr>
          <a:xfrm>
            <a:off x="1033272" y="46268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travellers are at any given moment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532120" y="4718304"/>
            <a:ext cx="100584" cy="100584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5" name="Text 21"/>
          <p:cNvSpPr/>
          <p:nvPr/>
        </p:nvSpPr>
        <p:spPr>
          <a:xfrm>
            <a:off x="5788152" y="46268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rural service sector actually earns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77240" y="5175504"/>
            <a:ext cx="100584" cy="100584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7" name="Text 23"/>
          <p:cNvSpPr/>
          <p:nvPr/>
        </p:nvSpPr>
        <p:spPr>
          <a:xfrm>
            <a:off x="1033272" y="50840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routes are overloaded and which stand idle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532120" y="5175504"/>
            <a:ext cx="100584" cy="100584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9" name="Text 25"/>
          <p:cNvSpPr/>
          <p:nvPr/>
        </p:nvSpPr>
        <p:spPr>
          <a:xfrm>
            <a:off x="5788152" y="50840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share of payments has left cash circulation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Artificial intelligence as infrastructure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77240" y="17190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SAFRON addresses four practical tasks. None of them is decorative — each removes a specific barrier standing between the traveller, the provider and the state.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77240" y="2487168"/>
            <a:ext cx="2508428" cy="2852928"/>
          </a:xfrm>
          <a:prstGeom prst="roundRect">
            <a:avLst>
              <a:gd name="adj" fmla="val 218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51560" y="2724912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3255264"/>
            <a:ext cx="1959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language barrier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51560" y="3767328"/>
            <a:ext cx="19597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of menus, signage and conversation with cultural context rather than word for word.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51560" y="4626864"/>
            <a:ext cx="195978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4718304"/>
            <a:ext cx="1959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traveller stops depending on a guide for everyday situations.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86836" y="2487168"/>
            <a:ext cx="2508428" cy="2852928"/>
          </a:xfrm>
          <a:prstGeom prst="roundRect">
            <a:avLst>
              <a:gd name="adj" fmla="val 218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61156" y="2724912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61156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61156" y="3255264"/>
            <a:ext cx="1959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safety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761156" y="3767328"/>
            <a:ext cx="19597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of ingredients and allergens from a photograph of the menu.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761156" y="4626864"/>
            <a:ext cx="195978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1156" y="4718304"/>
            <a:ext cx="1959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to travellers with dietary restrictions is removed.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96432" y="2487168"/>
            <a:ext cx="2508428" cy="2852928"/>
          </a:xfrm>
          <a:prstGeom prst="roundRect">
            <a:avLst>
              <a:gd name="adj" fmla="val 218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70752" y="2724912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70752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70752" y="3255264"/>
            <a:ext cx="1959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of supply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70752" y="3767328"/>
            <a:ext cx="19597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translation and standardisation of service descriptions.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470752" y="4626864"/>
            <a:ext cx="195978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70752" y="4718304"/>
            <a:ext cx="1959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rural provider looks no worse on the showcase than a capital-city hotel.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906027" y="2487168"/>
            <a:ext cx="2508428" cy="2852928"/>
          </a:xfrm>
          <a:prstGeom prst="roundRect">
            <a:avLst>
              <a:gd name="adj" fmla="val 218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180347" y="2724912"/>
            <a:ext cx="402336" cy="402336"/>
          </a:xfrm>
          <a:prstGeom prst="ellipse">
            <a:avLst/>
          </a:prstGeom>
          <a:ln w="13970">
            <a:solidFill>
              <a:srgbClr val="006B7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80347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180347" y="3255264"/>
            <a:ext cx="1959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Itinerary planning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180347" y="3767328"/>
            <a:ext cx="19597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Composing and recomposing a tour against budget, logistics and site congestion.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9180347" y="4626864"/>
            <a:ext cx="1959788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80347" y="4718304"/>
            <a:ext cx="1959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agency builds an itinerary in minutes instead of hours.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THE STATE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9326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30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E-Mehmon: from a manual form to an automatic flow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828800"/>
            <a:ext cx="5090008" cy="2615184"/>
          </a:xfrm>
          <a:prstGeom prst="roundRect">
            <a:avLst>
              <a:gd name="adj" fmla="val 2098"/>
            </a:avLst>
          </a:prstGeom>
          <a:solidFill>
            <a:srgbClr val="F2EFE8"/>
          </a:solidFill>
          <a:ln w="9525">
            <a:solidFill>
              <a:srgbClr val="E2DE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61288" y="2066544"/>
            <a:ext cx="432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61288" y="2450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35608" y="2450592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retypes every guest’s passport details by hand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61288" y="292608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35608" y="2926080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errors distort the national statistics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61288" y="340156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435608" y="3401568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arrives late and cannot be reconciled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61288" y="38770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435608" y="3877056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services never enter the record at all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24448" y="1828800"/>
            <a:ext cx="5090008" cy="2615184"/>
          </a:xfrm>
          <a:prstGeom prst="roundRect">
            <a:avLst>
              <a:gd name="adj" fmla="val 2098"/>
            </a:avLst>
          </a:prstGeom>
          <a:solidFill>
            <a:srgbClr val="0A2320"/>
          </a:solidFill>
          <a:ln/>
        </p:spPr>
      </p:sp>
      <p:sp>
        <p:nvSpPr>
          <p:cNvPr id="16" name="Text 13"/>
          <p:cNvSpPr/>
          <p:nvPr/>
        </p:nvSpPr>
        <p:spPr>
          <a:xfrm>
            <a:off x="6708496" y="2066544"/>
            <a:ext cx="432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SAFRON PLATFORM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708496" y="2450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982816" y="2450592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passport is read by camera and the fields populate themselves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708496" y="292608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982816" y="2926080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arrives machine-readable, with no manual entry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708496" y="340156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82816" y="3401568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is generated at the moment of booking, not after the fact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708496" y="38770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82816" y="3877056"/>
            <a:ext cx="404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rural service becomes a recorded transaction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77240" y="470001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Alignment with the Digital Uzbekistan 2030 strategy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777240" y="5175504"/>
            <a:ext cx="3393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public services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77240" y="5431536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sector service in place of paper document flow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399178" y="5175504"/>
            <a:ext cx="3393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tourism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399178" y="5431536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execution of the Smart Tourism roadmap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021117" y="5175504"/>
            <a:ext cx="3393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economy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021117" y="5431536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dataset on traveller movement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 ·  SYSTEMIC SOLUTIONS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Managing arrivals as an instrument of state policy</a:t>
            </a:r>
            <a:endParaRPr lang="en-US" sz="3000" dirty="0"/>
          </a:p>
        </p:txBody>
      </p:sp>
      <p:pic>
        <p:nvPicPr>
          <p:cNvPr id="5" name="Image 1" descr="assets/compass.png">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9326880" y="3566160"/>
            <a:ext cx="3291840" cy="32918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77240" y="1956816"/>
            <a:ext cx="5090008" cy="3584448"/>
          </a:xfrm>
          <a:prstGeom prst="roundRect">
            <a:avLst>
              <a:gd name="adj" fmla="val 1531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61288" y="2231136"/>
            <a:ext cx="457200" cy="457200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61288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61288" y="2816352"/>
            <a:ext cx="432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arrival redistribution API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161288" y="3529584"/>
            <a:ext cx="4321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calculates traveller density around key sites in real time. When Registan or Ichan-Kala becomes congested, the system automatically raises the visibility and appeal of alternative routes within the same region — and offers them to the traveller before they end up in the queue.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161288" y="4700016"/>
            <a:ext cx="4321912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161288" y="4887468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3" name="Text 9"/>
          <p:cNvSpPr/>
          <p:nvPr/>
        </p:nvSpPr>
        <p:spPr>
          <a:xfrm>
            <a:off x="1380744" y="4809744"/>
            <a:ext cx="410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pressure on cultural heritage sites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1161288" y="5125212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5" name="Text 11"/>
          <p:cNvSpPr/>
          <p:nvPr/>
        </p:nvSpPr>
        <p:spPr>
          <a:xfrm>
            <a:off x="1380744" y="5047488"/>
            <a:ext cx="410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utilisation of under-visited regions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1161288" y="5362956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7" name="Text 13"/>
          <p:cNvSpPr/>
          <p:nvPr/>
        </p:nvSpPr>
        <p:spPr>
          <a:xfrm>
            <a:off x="1380744" y="5285232"/>
            <a:ext cx="410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management without bans or quotas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6324448" y="1956816"/>
            <a:ext cx="5090008" cy="3584448"/>
          </a:xfrm>
          <a:prstGeom prst="roundRect">
            <a:avLst>
              <a:gd name="adj" fmla="val 1531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08496" y="2231136"/>
            <a:ext cx="457200" cy="457200"/>
          </a:xfrm>
          <a:prstGeom prst="ellipse">
            <a:avLst/>
          </a:prstGeom>
          <a:ln w="13970">
            <a:solidFill>
              <a:srgbClr val="C5A88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08496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708496" y="2816352"/>
            <a:ext cx="432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 pooling between agencies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6708496" y="3529584"/>
            <a:ext cx="4321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idle guide, a coach seat or an unoccupied room held by one operator becomes available to another through a secure B2B exchange inside the platform. Idle capacity across the sector converts into revenue.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708496" y="4700016"/>
            <a:ext cx="4321912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708496" y="4887468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5" name="Text 21"/>
          <p:cNvSpPr/>
          <p:nvPr/>
        </p:nvSpPr>
        <p:spPr>
          <a:xfrm>
            <a:off x="6927952" y="4809744"/>
            <a:ext cx="410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downtime for vehicles and guides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6708496" y="5125212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7" name="Text 23"/>
          <p:cNvSpPr/>
          <p:nvPr/>
        </p:nvSpPr>
        <p:spPr>
          <a:xfrm>
            <a:off x="6927952" y="5047488"/>
            <a:ext cx="410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to absorb the peak season</a:t>
            </a:r>
            <a:endParaRPr lang="en-US" sz="980" dirty="0"/>
          </a:p>
        </p:txBody>
      </p:sp>
      <p:sp>
        <p:nvSpPr>
          <p:cNvPr id="28" name="Shape 24"/>
          <p:cNvSpPr/>
          <p:nvPr/>
        </p:nvSpPr>
        <p:spPr>
          <a:xfrm>
            <a:off x="6708496" y="5362956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9" name="Text 25"/>
          <p:cNvSpPr/>
          <p:nvPr/>
        </p:nvSpPr>
        <p:spPr>
          <a:xfrm>
            <a:off x="6927952" y="5285232"/>
            <a:ext cx="410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 in place of a fragmented market</a:t>
            </a:r>
            <a:endParaRPr lang="en-US" sz="980" dirty="0"/>
          </a:p>
        </p:txBody>
      </p:sp>
      <p:sp>
        <p:nvSpPr>
          <p:cNvPr id="30" name="Text 26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6"/>
              </a:lnSpc>
              <a:buNone/>
            </a:pPr>
            <a:r>
              <a:rPr lang="en-US" sz="31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architecture built for national scale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777240" y="1773936"/>
            <a:ext cx="3393338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88136" y="2011680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88136" y="2340864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React · TypeScript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88136" y="2615184"/>
            <a:ext cx="277154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independently deployable applications in a single repository sharing one component library.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99178" y="1773936"/>
            <a:ext cx="3393338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10074" y="2011680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10074" y="2340864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· PostGIS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10074" y="2615184"/>
            <a:ext cx="277154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queries for maps and heatmaps execute inside the database itself, with no external service.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21117" y="1773936"/>
            <a:ext cx="3393338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32013" y="2011680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332013" y="2340864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· JWT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332013" y="2615184"/>
            <a:ext cx="277154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rules live at the database row level rather than in application code — they cannot be bypassed.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7240" y="3657600"/>
            <a:ext cx="3393338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88136" y="3895344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time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88136" y="4224528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subscriptions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88136" y="4498848"/>
            <a:ext cx="277154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in provider status reaches the agency and the traveller in under a second.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399178" y="3657600"/>
            <a:ext cx="3393338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10074" y="3895344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Mobility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710074" y="4224528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· Service Worker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10074" y="4498848"/>
            <a:ext cx="277154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by QR code with no app store. Maps and core phrases remain available offline.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021117" y="3657600"/>
            <a:ext cx="3393338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332013" y="3895344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332013" y="4224528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· AI · Payme / Click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332013" y="4498848"/>
            <a:ext cx="277154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payment systems as the primary settlement channel, international ones as a supplement.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77240" y="5541264"/>
            <a:ext cx="10637215" cy="512064"/>
          </a:xfrm>
          <a:prstGeom prst="roundRect">
            <a:avLst>
              <a:gd name="adj" fmla="val 10714"/>
            </a:avLst>
          </a:prstGeom>
          <a:solidFill>
            <a:srgbClr val="EFEEE7"/>
          </a:solidFill>
          <a:ln w="9525">
            <a:solidFill>
              <a:srgbClr val="E2DED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43000" y="5541264"/>
            <a:ext cx="9905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API response under 200 ms · map load under 2 seconds · 10,000 concurrent users at launch, 100,000 in year two.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COMPLIANCE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and accessibility are built in from the start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77240" y="1828800"/>
            <a:ext cx="3393338" cy="3840480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88136" y="2066544"/>
            <a:ext cx="2771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protection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88136" y="2578608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88136" y="2807208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in transit, AES-256 at rest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1088136" y="3337560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88136" y="3566160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 at the database row level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1088136" y="4096512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88136" y="4325112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GDPR-aligned processing from day one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1088136" y="4855464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88136" y="5084064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are built without identifying individuals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4399178" y="1828800"/>
            <a:ext cx="3393338" cy="3840480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10074" y="2066544"/>
            <a:ext cx="2771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6B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Accessibility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710074" y="2578608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AA standard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10074" y="2807208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of at least 4.5:1, full keyboard navigation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4710074" y="3337560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10074" y="3566160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ARIA labelling across all four portals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4710074" y="4096512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connectivity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10074" y="4325112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operable on unreliable rural 3G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4710074" y="4855464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screen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10074" y="5084064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layout from 320 pixels wide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8021117" y="1828800"/>
            <a:ext cx="3393338" cy="3840480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332013" y="2066544"/>
            <a:ext cx="2771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887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Languages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8332013" y="2578608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stage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332013" y="2807208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Uzbek, Russian, English — interface and content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8332013" y="3337560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stage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332013" y="3566160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French, Chinese, Arabic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8332013" y="4096512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Auto-translation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332013" y="4325112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listings translated by AI on publication</a:t>
            </a:r>
            <a:endParaRPr lang="en-US" sz="980" dirty="0"/>
          </a:p>
        </p:txBody>
      </p:sp>
      <p:sp>
        <p:nvSpPr>
          <p:cNvPr id="33" name="Text 30"/>
          <p:cNvSpPr/>
          <p:nvPr/>
        </p:nvSpPr>
        <p:spPr>
          <a:xfrm>
            <a:off x="8332013" y="4855464"/>
            <a:ext cx="2771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332013" y="5084064"/>
            <a:ext cx="2771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rendering of both Cyrillic and Latin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not a concept — the platform already runs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7240" y="17373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has completed three development stages funded by the team itself. A working system backed by a real database is available for demonstration today.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73736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0" y="2514600"/>
            <a:ext cx="4114800" cy="100584"/>
          </a:xfrm>
          <a:prstGeom prst="roundRect">
            <a:avLst>
              <a:gd name="adj" fmla="val 50000"/>
            </a:avLst>
          </a:prstGeom>
          <a:solidFill>
            <a:srgbClr val="E4E0D6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0" y="2514600"/>
            <a:ext cx="4114800" cy="100584"/>
          </a:xfrm>
          <a:prstGeom prst="roundRect">
            <a:avLst>
              <a:gd name="adj" fmla="val 50000"/>
            </a:avLst>
          </a:prstGeom>
          <a:solidFill>
            <a:srgbClr val="2D8A4E"/>
          </a:solidFill>
          <a:ln/>
        </p:spPr>
      </p:sp>
      <p:sp>
        <p:nvSpPr>
          <p:cNvPr id="10" name="Text 7"/>
          <p:cNvSpPr/>
          <p:nvPr/>
        </p:nvSpPr>
        <p:spPr>
          <a:xfrm>
            <a:off x="854964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2880360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9077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37360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and core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06240" y="3044952"/>
            <a:ext cx="4114800" cy="100584"/>
          </a:xfrm>
          <a:prstGeom prst="roundRect">
            <a:avLst>
              <a:gd name="adj" fmla="val 50000"/>
            </a:avLst>
          </a:prstGeom>
          <a:solidFill>
            <a:srgbClr val="E4E0D6"/>
          </a:solidFill>
          <a:ln/>
        </p:spPr>
      </p:sp>
      <p:sp>
        <p:nvSpPr>
          <p:cNvPr id="15" name="Shape 12"/>
          <p:cNvSpPr/>
          <p:nvPr/>
        </p:nvSpPr>
        <p:spPr>
          <a:xfrm>
            <a:off x="4206240" y="3044952"/>
            <a:ext cx="3497580" cy="100584"/>
          </a:xfrm>
          <a:prstGeom prst="roundRect">
            <a:avLst>
              <a:gd name="adj" fmla="val 50000"/>
            </a:avLst>
          </a:prstGeom>
          <a:solidFill>
            <a:srgbClr val="D9972B"/>
          </a:solidFill>
          <a:ln/>
        </p:spPr>
      </p:sp>
      <p:sp>
        <p:nvSpPr>
          <p:cNvPr id="16" name="Text 13"/>
          <p:cNvSpPr/>
          <p:nvPr/>
        </p:nvSpPr>
        <p:spPr>
          <a:xfrm>
            <a:off x="8549640" y="2907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complete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" y="3410712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34381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737360" y="3438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workflows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06240" y="3575304"/>
            <a:ext cx="4114800" cy="100584"/>
          </a:xfrm>
          <a:prstGeom prst="roundRect">
            <a:avLst>
              <a:gd name="adj" fmla="val 50000"/>
            </a:avLst>
          </a:prstGeom>
          <a:solidFill>
            <a:srgbClr val="E4E0D6"/>
          </a:solidFill>
          <a:ln/>
        </p:spPr>
      </p:sp>
      <p:sp>
        <p:nvSpPr>
          <p:cNvPr id="21" name="Shape 18"/>
          <p:cNvSpPr/>
          <p:nvPr/>
        </p:nvSpPr>
        <p:spPr>
          <a:xfrm>
            <a:off x="4206240" y="3575304"/>
            <a:ext cx="4114800" cy="100584"/>
          </a:xfrm>
          <a:prstGeom prst="roundRect">
            <a:avLst>
              <a:gd name="adj" fmla="val 50000"/>
            </a:avLst>
          </a:prstGeom>
          <a:solidFill>
            <a:srgbClr val="2D8A4E"/>
          </a:solidFill>
          <a:ln/>
        </p:spPr>
      </p:sp>
      <p:sp>
        <p:nvSpPr>
          <p:cNvPr id="22" name="Text 19"/>
          <p:cNvSpPr/>
          <p:nvPr/>
        </p:nvSpPr>
        <p:spPr>
          <a:xfrm>
            <a:off x="8549640" y="34381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7240" y="3941064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39684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73736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mapping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06240" y="4105656"/>
            <a:ext cx="4114800" cy="100584"/>
          </a:xfrm>
          <a:prstGeom prst="roundRect">
            <a:avLst>
              <a:gd name="adj" fmla="val 50000"/>
            </a:avLst>
          </a:prstGeom>
          <a:solidFill>
            <a:srgbClr val="E4E0D6"/>
          </a:solidFill>
          <a:ln/>
        </p:spPr>
      </p:sp>
      <p:sp>
        <p:nvSpPr>
          <p:cNvPr id="27" name="Text 24"/>
          <p:cNvSpPr/>
          <p:nvPr/>
        </p:nvSpPr>
        <p:spPr>
          <a:xfrm>
            <a:off x="8549640" y="39684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funding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77240" y="4471416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4498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737360" y="4498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perimeter and launch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206240" y="4636008"/>
            <a:ext cx="4114800" cy="100584"/>
          </a:xfrm>
          <a:prstGeom prst="roundRect">
            <a:avLst>
              <a:gd name="adj" fmla="val 50000"/>
            </a:avLst>
          </a:prstGeom>
          <a:solidFill>
            <a:srgbClr val="E4E0D6"/>
          </a:solidFill>
          <a:ln/>
        </p:spPr>
      </p:sp>
      <p:sp>
        <p:nvSpPr>
          <p:cNvPr id="32" name="Text 29"/>
          <p:cNvSpPr/>
          <p:nvPr/>
        </p:nvSpPr>
        <p:spPr>
          <a:xfrm>
            <a:off x="8549640" y="4498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funding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77240" y="5138928"/>
            <a:ext cx="3393338" cy="859536"/>
          </a:xfrm>
          <a:prstGeom prst="roundRect">
            <a:avLst>
              <a:gd name="adj" fmla="val 6383"/>
            </a:avLst>
          </a:prstGeom>
          <a:solidFill>
            <a:srgbClr val="0A2320"/>
          </a:solidFill>
          <a:ln/>
        </p:spPr>
      </p:sp>
      <p:sp>
        <p:nvSpPr>
          <p:cNvPr id="34" name="Text 31"/>
          <p:cNvSpPr/>
          <p:nvPr/>
        </p:nvSpPr>
        <p:spPr>
          <a:xfrm>
            <a:off x="1088136" y="5138928"/>
            <a:ext cx="1325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500" dirty="0"/>
          </a:p>
        </p:txBody>
      </p:sp>
      <p:sp>
        <p:nvSpPr>
          <p:cNvPr id="35" name="Text 32"/>
          <p:cNvSpPr/>
          <p:nvPr/>
        </p:nvSpPr>
        <p:spPr>
          <a:xfrm>
            <a:off x="2478024" y="5138928"/>
            <a:ext cx="138165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portals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399178" y="5138928"/>
            <a:ext cx="3393338" cy="859536"/>
          </a:xfrm>
          <a:prstGeom prst="roundRect">
            <a:avLst>
              <a:gd name="adj" fmla="val 6383"/>
            </a:avLst>
          </a:prstGeom>
          <a:solidFill>
            <a:srgbClr val="0A2320"/>
          </a:solidFill>
          <a:ln/>
        </p:spPr>
      </p:sp>
      <p:sp>
        <p:nvSpPr>
          <p:cNvPr id="37" name="Text 34"/>
          <p:cNvSpPr/>
          <p:nvPr/>
        </p:nvSpPr>
        <p:spPr>
          <a:xfrm>
            <a:off x="4710074" y="5138928"/>
            <a:ext cx="1325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2500" dirty="0"/>
          </a:p>
        </p:txBody>
      </p:sp>
      <p:sp>
        <p:nvSpPr>
          <p:cNvPr id="38" name="Text 35"/>
          <p:cNvSpPr/>
          <p:nvPr/>
        </p:nvSpPr>
        <p:spPr>
          <a:xfrm>
            <a:off x="6099962" y="5138928"/>
            <a:ext cx="138165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records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system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021117" y="5138928"/>
            <a:ext cx="3393338" cy="859536"/>
          </a:xfrm>
          <a:prstGeom prst="roundRect">
            <a:avLst>
              <a:gd name="adj" fmla="val 6383"/>
            </a:avLst>
          </a:prstGeom>
          <a:solidFill>
            <a:srgbClr val="0A2320"/>
          </a:solidFill>
          <a:ln/>
        </p:spPr>
      </p:sp>
      <p:sp>
        <p:nvSpPr>
          <p:cNvPr id="40" name="Text 37"/>
          <p:cNvSpPr/>
          <p:nvPr/>
        </p:nvSpPr>
        <p:spPr>
          <a:xfrm>
            <a:off x="8332013" y="5138928"/>
            <a:ext cx="1325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2500" dirty="0"/>
          </a:p>
        </p:txBody>
      </p:sp>
      <p:sp>
        <p:nvSpPr>
          <p:cNvPr id="41" name="Text 38"/>
          <p:cNvSpPr/>
          <p:nvPr/>
        </p:nvSpPr>
        <p:spPr>
          <a:xfrm>
            <a:off x="9721901" y="5138928"/>
            <a:ext cx="138165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bookings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funding unlocks over the next 12 months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975104"/>
            <a:ext cx="2508428" cy="3529584"/>
          </a:xfrm>
          <a:prstGeom prst="roundRect">
            <a:avLst>
              <a:gd name="adj" fmla="val 2187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9848" y="2212848"/>
            <a:ext cx="1923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9848" y="2505456"/>
            <a:ext cx="19232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Completing stage 3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69848" y="3236976"/>
            <a:ext cx="1923212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69848" y="3474720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0" name="Text 7"/>
          <p:cNvSpPr/>
          <p:nvPr/>
        </p:nvSpPr>
        <p:spPr>
          <a:xfrm>
            <a:off x="1289304" y="3383280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menu scanner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1069848" y="3986784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2" name="Text 9"/>
          <p:cNvSpPr/>
          <p:nvPr/>
        </p:nvSpPr>
        <p:spPr>
          <a:xfrm>
            <a:off x="1289304" y="3895344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translator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69848" y="4498848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4" name="Text 11"/>
          <p:cNvSpPr/>
          <p:nvPr/>
        </p:nvSpPr>
        <p:spPr>
          <a:xfrm>
            <a:off x="1289304" y="4407408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Map on Mapbox and PostGIS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1069848" y="5010912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6" name="Text 13"/>
          <p:cNvSpPr/>
          <p:nvPr/>
        </p:nvSpPr>
        <p:spPr>
          <a:xfrm>
            <a:off x="1289304" y="4919472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builder with auto-pricing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3486836" y="1975104"/>
            <a:ext cx="2508428" cy="3529584"/>
          </a:xfrm>
          <a:prstGeom prst="roundRect">
            <a:avLst>
              <a:gd name="adj" fmla="val 2187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79444" y="2212848"/>
            <a:ext cx="1923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779444" y="2505456"/>
            <a:ext cx="19232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state perimeter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3779444" y="3236976"/>
            <a:ext cx="1923212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779444" y="3474720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2" name="Text 19"/>
          <p:cNvSpPr/>
          <p:nvPr/>
        </p:nvSpPr>
        <p:spPr>
          <a:xfrm>
            <a:off x="3998900" y="3383280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recognition and E-Mehmon export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3779444" y="3986784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4" name="Text 21"/>
          <p:cNvSpPr/>
          <p:nvPr/>
        </p:nvSpPr>
        <p:spPr>
          <a:xfrm>
            <a:off x="3998900" y="3895344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 and Click integration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3779444" y="4498848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6" name="Text 23"/>
          <p:cNvSpPr/>
          <p:nvPr/>
        </p:nvSpPr>
        <p:spPr>
          <a:xfrm>
            <a:off x="3998900" y="4407408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Payouts to rural providers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3779444" y="5010912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28" name="Text 25"/>
          <p:cNvSpPr/>
          <p:nvPr/>
        </p:nvSpPr>
        <p:spPr>
          <a:xfrm>
            <a:off x="3998900" y="4919472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6196432" y="1975104"/>
            <a:ext cx="2508428" cy="3529584"/>
          </a:xfrm>
          <a:prstGeom prst="roundRect">
            <a:avLst>
              <a:gd name="adj" fmla="val 2187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89040" y="2212848"/>
            <a:ext cx="1923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489040" y="2505456"/>
            <a:ext cx="19232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Regional pilot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6489040" y="3236976"/>
            <a:ext cx="1923212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89040" y="3474720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34" name="Text 31"/>
          <p:cNvSpPr/>
          <p:nvPr/>
        </p:nvSpPr>
        <p:spPr>
          <a:xfrm>
            <a:off x="6708496" y="3383280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verified providers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6489040" y="3986784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36" name="Text 33"/>
          <p:cNvSpPr/>
          <p:nvPr/>
        </p:nvSpPr>
        <p:spPr>
          <a:xfrm>
            <a:off x="6708496" y="3895344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partner agencies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6489040" y="4498848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38" name="Text 35"/>
          <p:cNvSpPr/>
          <p:nvPr/>
        </p:nvSpPr>
        <p:spPr>
          <a:xfrm>
            <a:off x="6708496" y="4407408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region: Navoi and Nurata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6489040" y="5010912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40" name="Text 37"/>
          <p:cNvSpPr/>
          <p:nvPr/>
        </p:nvSpPr>
        <p:spPr>
          <a:xfrm>
            <a:off x="6708496" y="4919472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provider training</a:t>
            </a:r>
            <a:endParaRPr lang="en-US" sz="980" dirty="0"/>
          </a:p>
        </p:txBody>
      </p:sp>
      <p:sp>
        <p:nvSpPr>
          <p:cNvPr id="41" name="Shape 38"/>
          <p:cNvSpPr/>
          <p:nvPr/>
        </p:nvSpPr>
        <p:spPr>
          <a:xfrm>
            <a:off x="8906027" y="1975104"/>
            <a:ext cx="2508428" cy="3529584"/>
          </a:xfrm>
          <a:prstGeom prst="roundRect">
            <a:avLst>
              <a:gd name="adj" fmla="val 2187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198635" y="2212848"/>
            <a:ext cx="1923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10–12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198635" y="2505456"/>
            <a:ext cx="19232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National launch</a:t>
            </a:r>
            <a:endParaRPr lang="en-US" sz="1700" dirty="0"/>
          </a:p>
        </p:txBody>
      </p:sp>
      <p:sp>
        <p:nvSpPr>
          <p:cNvPr id="44" name="Shape 41"/>
          <p:cNvSpPr/>
          <p:nvPr/>
        </p:nvSpPr>
        <p:spPr>
          <a:xfrm>
            <a:off x="9198635" y="3236976"/>
            <a:ext cx="1923212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198635" y="3474720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46" name="Text 43"/>
          <p:cNvSpPr/>
          <p:nvPr/>
        </p:nvSpPr>
        <p:spPr>
          <a:xfrm>
            <a:off x="9418091" y="3383280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points at airports and hotels</a:t>
            </a:r>
            <a:endParaRPr lang="en-US" sz="980" dirty="0"/>
          </a:p>
        </p:txBody>
      </p:sp>
      <p:sp>
        <p:nvSpPr>
          <p:cNvPr id="47" name="Shape 44"/>
          <p:cNvSpPr/>
          <p:nvPr/>
        </p:nvSpPr>
        <p:spPr>
          <a:xfrm>
            <a:off x="9198635" y="3986784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48" name="Text 45"/>
          <p:cNvSpPr/>
          <p:nvPr/>
        </p:nvSpPr>
        <p:spPr>
          <a:xfrm>
            <a:off x="9418091" y="3895344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redistribution</a:t>
            </a:r>
            <a:endParaRPr lang="en-US" sz="980" dirty="0"/>
          </a:p>
        </p:txBody>
      </p:sp>
      <p:sp>
        <p:nvSpPr>
          <p:cNvPr id="49" name="Shape 46"/>
          <p:cNvSpPr/>
          <p:nvPr/>
        </p:nvSpPr>
        <p:spPr>
          <a:xfrm>
            <a:off x="9198635" y="4498848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50" name="Text 47"/>
          <p:cNvSpPr/>
          <p:nvPr/>
        </p:nvSpPr>
        <p:spPr>
          <a:xfrm>
            <a:off x="9418091" y="4407408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pooling between agencies</a:t>
            </a:r>
            <a:endParaRPr lang="en-US" sz="980" dirty="0"/>
          </a:p>
        </p:txBody>
      </p:sp>
      <p:sp>
        <p:nvSpPr>
          <p:cNvPr id="51" name="Shape 48"/>
          <p:cNvSpPr/>
          <p:nvPr/>
        </p:nvSpPr>
        <p:spPr>
          <a:xfrm>
            <a:off x="9198635" y="5010912"/>
            <a:ext cx="82296" cy="82296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52" name="Text 49"/>
          <p:cNvSpPr/>
          <p:nvPr/>
        </p:nvSpPr>
        <p:spPr>
          <a:xfrm>
            <a:off x="9418091" y="4919472"/>
            <a:ext cx="1703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further interface languages</a:t>
            </a:r>
            <a:endParaRPr lang="en-US" sz="980" dirty="0"/>
          </a:p>
        </p:txBody>
      </p:sp>
      <p:sp>
        <p:nvSpPr>
          <p:cNvPr id="53" name="Text 50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ECONOMICS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model and target indicators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77240" y="17739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streams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77240" y="22311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commission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" y="24780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of the service value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27249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STREAM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77240" y="2999232"/>
            <a:ext cx="4937760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0723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subscription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33192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live inventory and CRM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35661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B2B REVENUE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77240" y="3840480"/>
            <a:ext cx="4937760" cy="0"/>
          </a:xfrm>
          <a:prstGeom prst="line">
            <a:avLst/>
          </a:prstGeom>
          <a:noFill/>
          <a:ln w="9525">
            <a:solidFill>
              <a:srgbClr val="E2DE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9136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promotion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7240" y="41605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placement for verified providers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7240" y="44074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REVENUE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63640" y="1773936"/>
            <a:ext cx="51508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platform turnover (GMV), $ thousand</a:t>
            </a:r>
            <a:endParaRPr lang="en-US" sz="17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263640" y="2212848"/>
          <a:ext cx="5150815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777240" y="4956048"/>
            <a:ext cx="2017715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60120" y="5084064"/>
            <a:ext cx="16519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500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923544" y="5504688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</a:t>
            </a:r>
            <a:endParaRPr lang="en-US" sz="9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90 days</a:t>
            </a:r>
            <a:endParaRPr lang="en-US" sz="930" dirty="0"/>
          </a:p>
        </p:txBody>
      </p:sp>
      <p:sp>
        <p:nvSpPr>
          <p:cNvPr id="22" name="Shape 18"/>
          <p:cNvSpPr/>
          <p:nvPr/>
        </p:nvSpPr>
        <p:spPr>
          <a:xfrm>
            <a:off x="2932115" y="4956048"/>
            <a:ext cx="2017715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3114995" y="5084064"/>
            <a:ext cx="16519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3078419" y="5504688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930" dirty="0"/>
          </a:p>
        </p:txBody>
      </p:sp>
      <p:sp>
        <p:nvSpPr>
          <p:cNvPr id="25" name="Shape 21"/>
          <p:cNvSpPr/>
          <p:nvPr/>
        </p:nvSpPr>
        <p:spPr>
          <a:xfrm>
            <a:off x="5086990" y="4956048"/>
            <a:ext cx="2017715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5269870" y="5084064"/>
            <a:ext cx="16519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5233294" y="5504688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9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90 days</a:t>
            </a:r>
            <a:endParaRPr lang="en-US" sz="930" dirty="0"/>
          </a:p>
        </p:txBody>
      </p:sp>
      <p:sp>
        <p:nvSpPr>
          <p:cNvPr id="28" name="Shape 24"/>
          <p:cNvSpPr/>
          <p:nvPr/>
        </p:nvSpPr>
        <p:spPr>
          <a:xfrm>
            <a:off x="7241865" y="4956048"/>
            <a:ext cx="2017715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7424745" y="5084064"/>
            <a:ext cx="16519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 50</a:t>
            </a:r>
            <a:endParaRPr lang="en-US" sz="2400" dirty="0"/>
          </a:p>
        </p:txBody>
      </p:sp>
      <p:sp>
        <p:nvSpPr>
          <p:cNvPr id="30" name="Text 26"/>
          <p:cNvSpPr/>
          <p:nvPr/>
        </p:nvSpPr>
        <p:spPr>
          <a:xfrm>
            <a:off x="7388169" y="5504688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</a:t>
            </a:r>
            <a:endParaRPr lang="en-US" sz="9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30" dirty="0"/>
          </a:p>
        </p:txBody>
      </p:sp>
      <p:sp>
        <p:nvSpPr>
          <p:cNvPr id="31" name="Shape 27"/>
          <p:cNvSpPr/>
          <p:nvPr/>
        </p:nvSpPr>
        <p:spPr>
          <a:xfrm>
            <a:off x="9396740" y="4956048"/>
            <a:ext cx="2017715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2DED4"/>
            </a:solidFill>
            <a:prstDash val="solid"/>
          </a:ln>
          <a:effectLst>
            <a:outerShdw sx="100000" sy="100000" kx="0" ky="0" algn="bl" rotWithShape="0" blurRad="127000" dist="25400" dir="5400000">
              <a:srgbClr val="9A9384">
                <a:alpha val="16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9579620" y="5084064"/>
            <a:ext cx="16519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15%</a:t>
            </a:r>
            <a:endParaRPr lang="en-US" sz="2400" dirty="0"/>
          </a:p>
        </p:txBody>
      </p:sp>
      <p:sp>
        <p:nvSpPr>
          <p:cNvPr id="33" name="Text 29"/>
          <p:cNvSpPr/>
          <p:nvPr/>
        </p:nvSpPr>
        <p:spPr>
          <a:xfrm>
            <a:off x="9543044" y="5504688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9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930" dirty="0"/>
          </a:p>
        </p:txBody>
      </p:sp>
      <p:sp>
        <p:nvSpPr>
          <p:cNvPr id="34" name="Text 30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SOCIO-ECONOMIC IMPACT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6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country gains, not just the platform</a:t>
            </a:r>
            <a:endParaRPr lang="en-US" sz="3100" dirty="0"/>
          </a:p>
        </p:txBody>
      </p:sp>
      <p:pic>
        <p:nvPicPr>
          <p:cNvPr id="5" name="Image 1" descr="assets/compass.png">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9692640" y="457200"/>
            <a:ext cx="2926080" cy="2926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77240" y="1956816"/>
            <a:ext cx="3393338" cy="1645920"/>
          </a:xfrm>
          <a:prstGeom prst="roundRect">
            <a:avLst>
              <a:gd name="adj" fmla="val 333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06424" y="2194560"/>
            <a:ext cx="2734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Formalising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rural income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106424" y="2816352"/>
            <a:ext cx="27349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settlement gives way to recorded transactions. The tax base widens without raising any rate.</a:t>
            </a:r>
            <a:endParaRPr lang="en-US" sz="1020" dirty="0"/>
          </a:p>
        </p:txBody>
      </p:sp>
      <p:sp>
        <p:nvSpPr>
          <p:cNvPr id="9" name="Shape 5"/>
          <p:cNvSpPr/>
          <p:nvPr/>
        </p:nvSpPr>
        <p:spPr>
          <a:xfrm>
            <a:off x="4399178" y="1956816"/>
            <a:ext cx="3393338" cy="1645920"/>
          </a:xfrm>
          <a:prstGeom prst="roundRect">
            <a:avLst>
              <a:gd name="adj" fmla="val 333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28362" y="2194560"/>
            <a:ext cx="2734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Levelling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arrivals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728362" y="2816352"/>
            <a:ext cx="27349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shifts from five overloaded sites towards dozens of under-visited regions.</a:t>
            </a:r>
            <a:endParaRPr lang="en-US" sz="1020" dirty="0"/>
          </a:p>
        </p:txBody>
      </p:sp>
      <p:sp>
        <p:nvSpPr>
          <p:cNvPr id="12" name="Shape 8"/>
          <p:cNvSpPr/>
          <p:nvPr/>
        </p:nvSpPr>
        <p:spPr>
          <a:xfrm>
            <a:off x="8021117" y="1956816"/>
            <a:ext cx="3393338" cy="1645920"/>
          </a:xfrm>
          <a:prstGeom prst="roundRect">
            <a:avLst>
              <a:gd name="adj" fmla="val 333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50301" y="2194560"/>
            <a:ext cx="2734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Protecting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heritage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8350301" y="2816352"/>
            <a:ext cx="27349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pressure on UNESCO sites through flow management rather than restriction.</a:t>
            </a:r>
            <a:endParaRPr lang="en-US" sz="1020" dirty="0"/>
          </a:p>
        </p:txBody>
      </p:sp>
      <p:sp>
        <p:nvSpPr>
          <p:cNvPr id="15" name="Shape 11"/>
          <p:cNvSpPr/>
          <p:nvPr/>
        </p:nvSpPr>
        <p:spPr>
          <a:xfrm>
            <a:off x="777240" y="3785616"/>
            <a:ext cx="3393338" cy="1645920"/>
          </a:xfrm>
          <a:prstGeom prst="roundRect">
            <a:avLst>
              <a:gd name="adj" fmla="val 333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06424" y="4023360"/>
            <a:ext cx="2734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Regional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employment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106424" y="4645152"/>
            <a:ext cx="27349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artisan, the guide and the yurt owner gain a direct sales channel with no middleman.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4399178" y="3785616"/>
            <a:ext cx="3393338" cy="1645920"/>
          </a:xfrm>
          <a:prstGeom prst="roundRect">
            <a:avLst>
              <a:gd name="adj" fmla="val 333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28362" y="4023360"/>
            <a:ext cx="2734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safety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728362" y="4645152"/>
            <a:ext cx="27349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verification and ratings establish a predictable standard of service.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8021117" y="3785616"/>
            <a:ext cx="3393338" cy="1645920"/>
          </a:xfrm>
          <a:prstGeom prst="roundRect">
            <a:avLst>
              <a:gd name="adj" fmla="val 3333"/>
            </a:avLst>
          </a:prstGeom>
          <a:solidFill>
            <a:srgbClr val="10312C"/>
          </a:solidFill>
          <a:ln w="9525">
            <a:solidFill>
              <a:srgbClr val="244C4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50301" y="4023360"/>
            <a:ext cx="2734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National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8350301" y="4645152"/>
            <a:ext cx="27349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20" dirty="0">
                <a:solidFill>
                  <a:srgbClr val="E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a reliable real-time picture of traveller movement across the country.</a:t>
            </a:r>
            <a:endParaRPr lang="en-US" sz="1020" dirty="0"/>
          </a:p>
        </p:txBody>
      </p:sp>
      <p:sp>
        <p:nvSpPr>
          <p:cNvPr id="24" name="Text 20"/>
          <p:cNvSpPr/>
          <p:nvPr/>
        </p:nvSpPr>
        <p:spPr>
          <a:xfrm>
            <a:off x="777240" y="57241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one: at least $20,000 of income reaching rural providers directly, and 200 transactions moved out of cash circulation.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822960"/>
            <a:ext cx="10637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en-US" sz="3200" dirty="0">
                <a:solidFill>
                  <a:srgbClr val="0A23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Risks named in advance and closed with measures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77240" y="17739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754880" y="1773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852160" y="1773936"/>
            <a:ext cx="5196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77240" y="2084832"/>
            <a:ext cx="10637215" cy="0"/>
          </a:xfrm>
          <a:prstGeom prst="line">
            <a:avLst/>
          </a:prstGeom>
          <a:noFill/>
          <a:ln w="12700">
            <a:solidFill>
              <a:srgbClr val="0A23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21284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rural connectivity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233172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7E7E7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23317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52160" y="2212848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3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offline caching and a minimal data footprint in the provider application.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777240" y="2779776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871216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state systems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54880" y="299008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7E7E7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29900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52160" y="2871216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3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retrying request queue, independent document recognition and a manual fallback path.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777240" y="3438144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529584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digital literacy among providers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754880" y="3648456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AF0DC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6484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852160" y="3529584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3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single-button interface, SMS registration and on-site training in the pilot region.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777240" y="4096512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4187952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external AI services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754880" y="430682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AF0DC"/>
          </a:solidFill>
          <a:ln/>
        </p:spPr>
      </p:sp>
      <p:sp>
        <p:nvSpPr>
          <p:cNvPr id="26" name="Text 23"/>
          <p:cNvSpPr/>
          <p:nvPr/>
        </p:nvSpPr>
        <p:spPr>
          <a:xfrm>
            <a:off x="4754880" y="430682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852160" y="4187952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3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of frequent requests, per-user limits and budget alerts.</a:t>
            </a:r>
            <a:endParaRPr lang="en-US" sz="1030" dirty="0"/>
          </a:p>
        </p:txBody>
      </p:sp>
      <p:sp>
        <p:nvSpPr>
          <p:cNvPr id="28" name="Shape 25"/>
          <p:cNvSpPr/>
          <p:nvPr/>
        </p:nvSpPr>
        <p:spPr>
          <a:xfrm>
            <a:off x="777240" y="4754880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484632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foreign payment rails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754880" y="4965192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7E7E7"/>
          </a:solidFill>
          <a:ln/>
        </p:spPr>
      </p:sp>
      <p:sp>
        <p:nvSpPr>
          <p:cNvPr id="31" name="Text 28"/>
          <p:cNvSpPr/>
          <p:nvPr/>
        </p:nvSpPr>
        <p:spPr>
          <a:xfrm>
            <a:off x="4754880" y="496519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852160" y="4846320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3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 and Click as the primary settlement channel; international systems as a supplement.</a:t>
            </a:r>
            <a:endParaRPr lang="en-US" sz="1030" dirty="0"/>
          </a:p>
        </p:txBody>
      </p:sp>
      <p:sp>
        <p:nvSpPr>
          <p:cNvPr id="33" name="Shape 30"/>
          <p:cNvSpPr/>
          <p:nvPr/>
        </p:nvSpPr>
        <p:spPr>
          <a:xfrm>
            <a:off x="777240" y="5413248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7240" y="550468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limitations on iOS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754880" y="562356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AF0DC"/>
          </a:solidFill>
          <a:ln/>
        </p:spPr>
      </p:sp>
      <p:sp>
        <p:nvSpPr>
          <p:cNvPr id="36" name="Text 33"/>
          <p:cNvSpPr/>
          <p:nvPr/>
        </p:nvSpPr>
        <p:spPr>
          <a:xfrm>
            <a:off x="4754880" y="562356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852160" y="5504688"/>
            <a:ext cx="5379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30" dirty="0">
                <a:solidFill>
                  <a:srgbClr val="3E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testing and an alternative interface for unsupported features.</a:t>
            </a:r>
            <a:endParaRPr lang="en-US" sz="1030" dirty="0"/>
          </a:p>
        </p:txBody>
      </p:sp>
      <p:sp>
        <p:nvSpPr>
          <p:cNvPr id="38" name="Shape 35"/>
          <p:cNvSpPr/>
          <p:nvPr/>
        </p:nvSpPr>
        <p:spPr>
          <a:xfrm>
            <a:off x="777240" y="6071616"/>
            <a:ext cx="10637215" cy="0"/>
          </a:xfrm>
          <a:prstGeom prst="line">
            <a:avLst/>
          </a:prstGeom>
          <a:noFill/>
          <a:ln w="9525">
            <a:solidFill>
              <a:srgbClr val="EAE6D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7240" y="6355080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778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SAFRON  ·  Digital Tourism Ecosystem of Uzbekistan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591495" y="6355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A88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compass.png">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9052560" y="3703320"/>
            <a:ext cx="3291840" cy="3291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47548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60" kern="0" dirty="0">
                <a:solidFill>
                  <a:srgbClr val="C5A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77240" y="82296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76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 are asking for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777240" y="171907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months of funding — to complete stages 3 and 4, run the regional pilot and reach national launch.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77240" y="2487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45%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828800" y="2505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828800" y="27340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5–6 specialists over 12 months</a:t>
            </a:r>
            <a:endParaRPr lang="en-US" sz="980" dirty="0"/>
          </a:p>
        </p:txBody>
      </p:sp>
      <p:sp>
        <p:nvSpPr>
          <p:cNvPr id="10" name="Shape 6"/>
          <p:cNvSpPr/>
          <p:nvPr/>
        </p:nvSpPr>
        <p:spPr>
          <a:xfrm>
            <a:off x="777240" y="3035808"/>
            <a:ext cx="6400800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3127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15%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828800" y="31455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integrations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828800" y="337413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E-Mehmon, Payme and Click, security audit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777240" y="3675888"/>
            <a:ext cx="6400800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37673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20%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828800" y="37856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pilot and training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828800" y="40142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onboarding, field work, training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777240" y="4315968"/>
            <a:ext cx="6400800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7240" y="44074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1828800" y="44256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and external services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828800" y="465429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mapping, AI services, monitoring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777240" y="4956048"/>
            <a:ext cx="6400800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77240" y="50474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10%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1828800" y="50657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and distribution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828800" y="529437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points, materials, agency outreach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777240" y="5596128"/>
            <a:ext cx="6400800" cy="0"/>
          </a:xfrm>
          <a:prstGeom prst="line">
            <a:avLst/>
          </a:prstGeom>
          <a:noFill/>
          <a:ln w="9525">
            <a:solidFill>
              <a:srgbClr val="2A4A4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726680" y="2377440"/>
            <a:ext cx="3687775" cy="3310128"/>
          </a:xfrm>
          <a:prstGeom prst="roundRect">
            <a:avLst>
              <a:gd name="adj" fmla="val 1657"/>
            </a:avLst>
          </a:prstGeom>
          <a:solidFill>
            <a:srgbClr val="10312C"/>
          </a:solidFill>
          <a:ln w="9525">
            <a:solidFill>
              <a:srgbClr val="2A4A4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092440" y="2615184"/>
            <a:ext cx="2956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Beyond funding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8092440" y="3145536"/>
            <a:ext cx="2956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E-Mehmon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8092440" y="3374136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programmatic interface for automatic transfer of guest data</a:t>
            </a:r>
            <a:endParaRPr lang="en-US" sz="960" dirty="0"/>
          </a:p>
        </p:txBody>
      </p:sp>
      <p:sp>
        <p:nvSpPr>
          <p:cNvPr id="31" name="Text 27"/>
          <p:cNvSpPr/>
          <p:nvPr/>
        </p:nvSpPr>
        <p:spPr>
          <a:xfrm>
            <a:off x="8092440" y="3785616"/>
            <a:ext cx="2956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status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8092440" y="4014216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recognition of the platform as a sector solution</a:t>
            </a:r>
            <a:endParaRPr lang="en-US" sz="960" dirty="0"/>
          </a:p>
        </p:txBody>
      </p:sp>
      <p:sp>
        <p:nvSpPr>
          <p:cNvPr id="33" name="Text 29"/>
          <p:cNvSpPr/>
          <p:nvPr/>
        </p:nvSpPr>
        <p:spPr>
          <a:xfrm>
            <a:off x="8092440" y="4425696"/>
            <a:ext cx="2956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region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8092440" y="4654296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on Navoi and Nurata as the first-stage territory</a:t>
            </a:r>
            <a:endParaRPr lang="en-US" sz="960" dirty="0"/>
          </a:p>
        </p:txBody>
      </p:sp>
      <p:sp>
        <p:nvSpPr>
          <p:cNvPr id="35" name="Text 31"/>
          <p:cNvSpPr/>
          <p:nvPr/>
        </p:nvSpPr>
        <p:spPr>
          <a:xfrm>
            <a:off x="8092440" y="5065776"/>
            <a:ext cx="2956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points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8092440" y="5294376"/>
            <a:ext cx="2956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6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of QR codes at airports and border crossings</a:t>
            </a:r>
            <a:endParaRPr lang="en-US" sz="960" dirty="0"/>
          </a:p>
        </p:txBody>
      </p:sp>
      <p:sp>
        <p:nvSpPr>
          <p:cNvPr id="37" name="Text 33"/>
          <p:cNvSpPr/>
          <p:nvPr/>
        </p:nvSpPr>
        <p:spPr>
          <a:xfrm>
            <a:off x="777240" y="58338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amount requested and an itemised budget are provided in the annex to this application.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compass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4087368" y="960120"/>
            <a:ext cx="4023360" cy="4023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23317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country already has the arrivals.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822960" y="29260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5A8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remains is the infrastructure to manage them.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4937760" y="3913632"/>
            <a:ext cx="2286000" cy="0"/>
          </a:xfrm>
          <a:prstGeom prst="line">
            <a:avLst/>
          </a:prstGeom>
          <a:noFill/>
          <a:ln w="12700">
            <a:solidFill>
              <a:srgbClr val="2A4A44"/>
            </a:solidFill>
            <a:prstDash val="solid"/>
          </a:ln>
        </p:spPr>
      </p:sp>
      <p:pic>
        <p:nvPicPr>
          <p:cNvPr id="7" name="Image 2" descr="assets/logo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4261104"/>
            <a:ext cx="2286000" cy="7223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3040" y="5285232"/>
            <a:ext cx="9235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ready to demonstrate the platform live at a time that suits you.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463040" y="5650992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60" kern="0" dirty="0">
                <a:solidFill>
                  <a:srgbClr val="5E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Tashkent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SAFRON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SAFRON — Digital Tourism Ecosystem of Uzbekistan</dc:title>
  <dc:subject>PptxGenJS Presentation</dc:subject>
  <dc:creator>SAFRON</dc:creator>
  <cp:lastModifiedBy>SAFRON</cp:lastModifiedBy>
  <cp:revision>1</cp:revision>
  <dcterms:created xsi:type="dcterms:W3CDTF">2026-08-10T10:00:41Z</dcterms:created>
  <dcterms:modified xsi:type="dcterms:W3CDTF">2026-08-10T10:00:41Z</dcterms:modified>
</cp:coreProperties>
</file>