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solidFill>
              <a:srgbClr val="0A23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23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23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B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87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1-й год</c:v>
                  </c:pt>
                  <c:pt idx="1">
                    <c:v>2-й год</c:v>
                  </c:pt>
                  <c:pt idx="2">
                    <c:v>3-й год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260</c:v>
                </c:pt>
                <c:pt idx="2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23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A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8F5"/>
        </a:solidFill>
        <a:ln>
          <a:noFill/>
        </a:ln>
        <a:effectLst/>
      </c:spPr>
    </c:plotArea>
    <c:plotVisOnly val="1"/>
    <c:dispBlanksAs val="span"/>
  </c:chart>
  <c:spPr>
    <a:solidFill>
      <a:srgbClr val="F9F8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Представиться, назвать проект и сразу обозначить масштаб: это не приложение, а отраслевая инфраструктура.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мы продаём не сервис для туристов, а управляемость отраслью.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«Почему сейчас»: окно возможности открыто ровно сейчас — поток уже есть, инфраструктуры под него ещё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проблем формулируем как разрывы, а не жалобы: каждый разрыв дальше закрывается конкретным порталом.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аргумент: это не четыре приложения, а один организм. Ценность возникает из связности.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Демонстрационный сценарий. Его же имеет смысл показать вживую после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подчеркнуть: MVP — это уровни 1–3. Уровень 4 требует государственного партнёрства и финансирования.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Уровни 1–2 уже в MVP. T6–T8 — расширение после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сильный социальный аргумент для государства — формализация сельской экономики.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A6 и A7 требуют доступа к государственным системам — это часть запроса к министерству.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для аудитории. Государство получает инструмент управления, а не просто ещё один портал.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прикладной характер ИИ: каждая функция закрывает измеримый барьер.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прямо связываем проект с действующей государственной стратегией.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Именно эти две функции невозможно построить без государственного участия и финансирования.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слайд. Не углубляться, если аудитория не задаёт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государственной аудитории вопрос защиты персональных данных — один из первых. Отвечаем на него до того, как его зададут.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Сильнейший аргумент доверия: команда уже вложила собственный труд и довела продукт до рабочего состояния.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деньги привязаны к конкретным срокам и результатам, а не к абстрактной «разработке».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Показатели первых 90 дней намеренно консервативны — они проверяемы, а не рекламны.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Формулировать в терминах государственной пользы: налоговая база, наследие, занятость,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разговор о рисках повышает доверие сильнее, чем их замалчивание.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подставить итоговую сумму запроса. Проценты распределения приведены как структура бюджета.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Закрытие. Сразу предложить демонстрацию — это переводит разговор из презентации в конкретику.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7818120" y="502920"/>
            <a:ext cx="5852160" cy="5852160"/>
          </a:xfrm>
          <a:prstGeom prst="rect">
            <a:avLst/>
          </a:prstGeom>
        </p:spPr>
      </p:pic>
      <p:pic>
        <p:nvPicPr>
          <p:cNvPr id="4" name="Image 2" descr="assets/logo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98448"/>
            <a:ext cx="4160520" cy="13167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29992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Национальная цифровая инфраструктура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туристической отрасли Узбекистана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777240" y="44988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соединяющая иностранного туриста, сельского поставщика услуг, туроператора и государство в одном цифровом контуре.</a:t>
            </a:r>
            <a:endParaRPr lang="en-US" sz="1350" dirty="0"/>
          </a:p>
        </p:txBody>
      </p:sp>
      <p:sp>
        <p:nvSpPr>
          <p:cNvPr id="7" name="Shape 2"/>
          <p:cNvSpPr/>
          <p:nvPr/>
        </p:nvSpPr>
        <p:spPr>
          <a:xfrm>
            <a:off x="777240" y="5559552"/>
            <a:ext cx="6858000" cy="0"/>
          </a:xfrm>
          <a:prstGeom prst="line">
            <a:avLst/>
          </a:prstGeom>
          <a:noFill/>
          <a:ln w="11430">
            <a:solidFill>
              <a:srgbClr val="2A4A4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7724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ГОСУДАРСТВЕННОЕ ФИНАНСИРОВАНИЕ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77724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ПРОЕКТА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Одна платформа — четыре портала — вся отрасль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переводит туристическую отрасль Узбекистана из режима телефонных звонков и наличных расчётов в режим единой цифровой экосистемы: с прозрачной статистикой для государства, гарантированным качеством для туриста и легальным доходом для села.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69848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069848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ВЗАИМОСВЯЗАННЫХ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88436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81044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781044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 ПОЛНОМ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ОБЪЁМЕ ПРОДУКТА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99632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492240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 ИНТЕРФЕЙСА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MVP, 6 — К ЗАПУСКУ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0828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03436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203436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ТРАНЗАКЦИЙ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БЕЛОЙ ЗОНЕ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5029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получает не отчёт, а живой поток данных о том, где находятся туристы, сколько они тратят и какие услуги реально оказываются на местах.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СЕЙЧАС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Отрасль растёт быстрее, чем её инфраструктура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11,7 млн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051560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ИНОСТРАННЫХ ТУРИСТОВ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ПОСЕТИЛИ УЗБЕКИСТАН В 2025 Г.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051560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+46,8% к 2024 г.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88436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62756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$4,4 млрд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3762756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ТУРИСТИЧЕСКИХ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 ЗА 2025 ГОД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762756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2756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Топ-7 в мире по темпам роста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99632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73952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млн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6473952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ТУРПОТОК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2030 ГОДУ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73952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 цель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10828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85148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$6 млрд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9185148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ЭКСПОРТ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 К 2030 ГОДУ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185148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5148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 1,4 раза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4407408"/>
            <a:ext cx="10637215" cy="1298448"/>
          </a:xfrm>
          <a:prstGeom prst="roundRect">
            <a:avLst>
              <a:gd name="adj" fmla="val 4225"/>
            </a:avLst>
          </a:prstGeom>
          <a:solidFill>
            <a:srgbClr val="0A2320"/>
          </a:solidFill>
          <a:ln/>
        </p:spPr>
      </p:sp>
      <p:pic>
        <p:nvPicPr>
          <p:cNvPr id="26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9829800" y="4133088"/>
            <a:ext cx="1920240" cy="19202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88720" y="4572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Разрыв, который нужно закрыть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88720" y="4901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Турпоток вырос почти в полтора раза за год, а бронирование в сельской местности по-прежнему идёт через звонок и наличные. Цифровизация отстаёт от спроса — и именно это ограничивает и качество услуг, и налоговую базу отрасли.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77240" y="58155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UN Tourism / Uzbektourism, 2025–2026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Пять разрывов, которые тормозят отрасль</a:t>
            </a:r>
            <a:endParaRPr lang="en-US" sz="33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9509760" y="457200"/>
            <a:ext cx="3108960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515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15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5636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разрыв села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юрт, ремесленники и проводники не имеют систем бронирования. Только звонки и наличные — вне формальной экономики.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348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91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91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212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Перегрузка турагентств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60% рабочего времени менеджера DMC уходит на обзвон поставщиков, ручное заполнение форм E-Mehmon и сборку маршрутов в Excel.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667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8788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Перекос турпотока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667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Туристы концентрируются на 5 объектах. Регионы с подлинной культурой остаются неохваченными и немонетизированными.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77240" y="3931920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51560" y="4187952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563624" y="4206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«Наценка за бюджет»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51560" y="470001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Безопасное и качественное путешествие доступно только через дорогие агентства. Бюджетный турист остаётся без навигации и языка.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434840" y="3931920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09160" y="4187952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091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221224" y="4206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возвращаемость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709160" y="470001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маршрут для всех создаёт ощущение «страна пройдена». Нет витрины живых локальных событий — нет мотива вернуться.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портала на одном ядре данных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719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роль в отрасли получает собственный интерфейс, но все они работают с одной базой данных. Действие в одном портале мгновенно видно во всех остальных.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69848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9848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848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мобильный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Планирование, навигация,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безопасность, бронирование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88436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81044" y="2724912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81044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81044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81044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упрощённый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1044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занятости, заявки,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услуг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9632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ТУРАГЕНТСТВО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 · рабочее место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92240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инвентарь, CRM,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маршрутов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910828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03436" y="2724912"/>
            <a:ext cx="402336" cy="402336"/>
          </a:xfrm>
          <a:prstGeom prst="ellipse">
            <a:avLst/>
          </a:prstGeom>
          <a:ln w="13970">
            <a:solidFill>
              <a:srgbClr val="0A23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0343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03436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03436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 · аналитика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203436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Верификация, аналитика,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тепловые карты, отчётность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4590288"/>
            <a:ext cx="10637215" cy="1060704"/>
          </a:xfrm>
          <a:prstGeom prst="roundRect">
            <a:avLst>
              <a:gd name="adj" fmla="val 5172"/>
            </a:avLst>
          </a:prstGeom>
          <a:solidFill>
            <a:srgbClr val="0A2320"/>
          </a:solidFill>
          <a:ln/>
        </p:spPr>
      </p:sp>
      <p:sp>
        <p:nvSpPr>
          <p:cNvPr id="31" name="Text 28"/>
          <p:cNvSpPr/>
          <p:nvPr/>
        </p:nvSpPr>
        <p:spPr>
          <a:xfrm>
            <a:off x="1188720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ЯДРО ДАННЫХ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88720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51571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на уровне строк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14422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реальном времени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77273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файлов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040124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ИИ-сервисы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Один заказ проходит через всю экосистему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99032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2354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юрты в Нурате нажимает «Онлайн» — одна кнопка.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95728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78608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24912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06624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DMC мгновенно видит его в живом инвентаре и ставит в маршрут.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97096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379976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01768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0176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07992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 находит тот же объект в разделе «Скрытый Узбекистан» и бронирует.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98464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181344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03136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03136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27648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09360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push-уведомление: принять или отклонить — в одно касание.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799832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982712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604504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04504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29016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10728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попадает в аналитику: GMV, регион, категория услуги.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601200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9784080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405872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05872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93038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912096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гостя автоматически формируют отчётность E-Mehmon.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77240" y="4681728"/>
            <a:ext cx="10637215" cy="859536"/>
          </a:xfrm>
          <a:prstGeom prst="roundRect">
            <a:avLst>
              <a:gd name="adj" fmla="val 6383"/>
            </a:avLst>
          </a:prstGeom>
          <a:solidFill>
            <a:srgbClr val="F1EEE6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8720" y="4681728"/>
            <a:ext cx="98142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телефонного звонка. Ни одной наличной оплаты вне учёта. Ни одной формы, заполненной вручную.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ОБЪЁМ ПРОДУКТА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уровня зрелости — 24 функции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слайды раскрывают каждую функцию. Ниже — общая карта.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" y="2103120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61288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Основа и доверие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69080" y="2414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функций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237744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Карты, переводчик, авторизация всех ролей, установка PWA по QR-коду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127248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61288" y="3584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Взаимодействие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069080" y="34381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функций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340156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статус поставщика, бронирования, CRM, сканер меню, уведомления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151376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61288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61288" y="46085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Связность экосистемы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6908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функций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4425696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Верификация, аналитика, тепловые карты, ИИ-конструктор маршрутов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7240" y="5175504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61288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61288" y="5632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Государственный контур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069080" y="5486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функции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5449824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E-Mehmon, перераспределение потока, пул ресурсов B2B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1 ИЗ 4  ·  B2C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Турист: безопасность, язык, открытия</a:t>
            </a:r>
            <a:endParaRPr lang="en-US" sz="3200" dirty="0"/>
          </a:p>
        </p:txBody>
      </p:sp>
      <p:pic>
        <p:nvPicPr>
          <p:cNvPr id="5" name="Image 1" descr="assets/compass_emerald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10195560" y="566928"/>
            <a:ext cx="1783080" cy="1783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2024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362456" y="188366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выживания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362456" y="213055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Пункты SOS, чистые туалеты, аптеки, банкоматы, Wi-Fi, культурные объекты и фестивали. Работает офлайн.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6370168" y="192024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7016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955384" y="188366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меню «Вкус и доверие»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55384" y="213055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меню на узбекском или русском → ИИ переводит блюда, объясняет состав и отмечает аллергены.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77240" y="30358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362456" y="29992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Скрытый Узбекистан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62456" y="32461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подлинных впечатлений напрямую от проверенных сельских поставщиков: мастер-классы, юрты, активный отдых.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370168" y="30358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7016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955384" y="29992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Контекстный переводчик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955384" y="32461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голос, адаптированные под реальные ситуации: торг на базаре, такси, объяснение диеты. Базовые фразы — офлайн.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77240" y="4151376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362456" y="4114800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профиль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362456" y="4361688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за минуту, вход через Google, сохранение маршрутов и броней.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6370168" y="4151376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7016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955384" y="4114800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Контекстные уведомления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955384" y="4361688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 событии рядом: концерт, ярмарка, закрытие объекта, погодное предупреждение.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777240" y="526694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24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362456" y="523036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карта активности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1362456" y="547725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показывает, где сейчас интересно и где, наоборот, слишком людно.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370168" y="526694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370168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955384" y="523036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впечатлений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6955384" y="547725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отметки за посещение неочевидных мест — механика, которая мотивирует ехать в регионы.</a:t>
            </a:r>
            <a:endParaRPr lang="en-US" sz="980" dirty="0"/>
          </a:p>
        </p:txBody>
      </p:sp>
      <p:sp>
        <p:nvSpPr>
          <p:cNvPr id="38" name="Text 34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2 ИЗ 4  ·  B2B/C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Поставщик: село входит в цифровую экономику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373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рассчитан на пользователя с базовыми цифровыми навыками, недорогой Android и нестабильный 3G. Главный экран — одна кнопка.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" y="2542032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62456" y="250545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занятости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62456" y="2752344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касание — «Онлайн» или «Офлайн». Статус расходится по всем порталам менее чем за секунду.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77240" y="3291840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62456" y="325526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заявками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62456" y="3502152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Push-уведомление о брони, принятие или отклонение в один клик, список подтверждённых заказов.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77240" y="4041648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362456" y="400507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услуг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362456" y="425196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фотографий, цена, длительность, вместимость. ИИ сам переводит описание на английский и русский.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77240" y="4791456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362456" y="475488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Упрощённая регистрация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362456" y="500176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имя, телефон и тип услуги. Подтверждение по SMS-коду, без сложных форм.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77240" y="5541264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541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362456" y="550468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ИИ-стандартизация услуг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362456" y="575157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приводит описания к единому качеству: подсказывает недостающие данные и корректную цену по рынку.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812280" y="1737360"/>
            <a:ext cx="4602175" cy="3986784"/>
          </a:xfrm>
          <a:prstGeom prst="roundRect">
            <a:avLst>
              <a:gd name="adj" fmla="val 1376"/>
            </a:avLst>
          </a:prstGeom>
          <a:solidFill>
            <a:srgbClr val="0A2320"/>
          </a:solidFill>
          <a:ln/>
        </p:spPr>
      </p:sp>
      <p:pic>
        <p:nvPicPr>
          <p:cNvPr id="27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9311335" y="3931920"/>
            <a:ext cx="2377440" cy="23774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96328" y="1975104"/>
            <a:ext cx="3834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это меняет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7196328" y="2542032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тени — в учёт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196328" y="2788920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Наличный расчёт заменяется транзакцией, которую видит и платформа, и государство.</a:t>
            </a:r>
            <a:endParaRPr lang="en-US" sz="980" dirty="0"/>
          </a:p>
        </p:txBody>
      </p:sp>
      <p:sp>
        <p:nvSpPr>
          <p:cNvPr id="31" name="Text 27"/>
          <p:cNvSpPr/>
          <p:nvPr/>
        </p:nvSpPr>
        <p:spPr>
          <a:xfrm>
            <a:off x="7196328" y="3328416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без посредника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196328" y="3575304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получает заказы напрямую от туриста и от агентства, а не только «по знакомству».</a:t>
            </a:r>
            <a:endParaRPr lang="en-US" sz="980" dirty="0"/>
          </a:p>
        </p:txBody>
      </p:sp>
      <p:sp>
        <p:nvSpPr>
          <p:cNvPr id="33" name="Text 29"/>
          <p:cNvSpPr/>
          <p:nvPr/>
        </p:nvSpPr>
        <p:spPr>
          <a:xfrm>
            <a:off x="7196328" y="4114800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в регионе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196328" y="4361688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остаются там, где оказана услуга, а не оседают в столичном посредничестве.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196328" y="4901184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входа — минимальный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196328" y="5148072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занимает менее двух минут и не требует бухгалтера или компьютера.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3 ИЗ 4  ·  B2B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Турагентство: рабочее место оператора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362456" y="179222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инвентарь поставщиков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62456" y="203911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доступности в реальном времени вместо обзвона. Фильтры по категории, региону, цене и рейтингу.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370168" y="182880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016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55384" y="179222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бронирований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55384" y="203911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заявки в одном месте со сквозной историей статусов: ожидание → принято → подтверждено → завершено.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77240" y="288950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362456" y="285292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маршрутов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62456" y="309981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тура по дням с автоматическим пересчётом стоимости, выгрузкой в PDF и ссылкой для клиента.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370168" y="288950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016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55384" y="285292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Командный аккаунт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55384" y="309981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компании по лицензии, приглашение сотрудников, разграничение прав доступа.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777240" y="39502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362456" y="39136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ИИ-маршрут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362456" y="41605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и турист редактируют маршрут одновременно; ИИ предлагает замены с учётом бюджета и логистики.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370168" y="39502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016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55384" y="39136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E-Mehmon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55384" y="41605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паспорта, автозаполнение и выгрузка данных гостя в государственную систему учёта.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777240" y="5010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362456" y="4974336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ресурсов между агентствами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362456" y="5221224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гид, автобус или место в отеле передаются другому оператору через защищённый B2B-обмен.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6370168" y="5138928"/>
            <a:ext cx="5044288" cy="713232"/>
          </a:xfrm>
          <a:prstGeom prst="roundRect">
            <a:avLst>
              <a:gd name="adj" fmla="val 7692"/>
            </a:avLst>
          </a:prstGeom>
          <a:solidFill>
            <a:srgbClr val="EFEE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4488" y="5266944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сократить операционные затраты агентства примерно вдвое за счёт отказа от ручных операций.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4 ИЗ 4  ·  B2G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Государство: отрасль становится наблюдаемой</a:t>
            </a:r>
            <a:endParaRPr lang="en-US" sz="32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966960" y="3931920"/>
            <a:ext cx="27432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88136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8136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88136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верификации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88136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документов и допуск сельских поставщиков и агентств на платформу. Контроль качества и безопасности туриста.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408322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19218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19218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19218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платформы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19218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туристы, проверенные поставщики, бронирования, GMV, динамика по регионам и категориям услуг.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39405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0301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50301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350301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потока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350301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Обезличенные геоданные активных сессий показывают реальную плотность туристов и узкие места инфраструктуры.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0782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Данные, которых сегодня нет ни у кого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777240" y="47183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272" y="46268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именно находятся туристы в каждый момент времени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532120" y="47183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5" name="Text 21"/>
          <p:cNvSpPr/>
          <p:nvPr/>
        </p:nvSpPr>
        <p:spPr>
          <a:xfrm>
            <a:off x="5788152" y="46268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реально зарабатывает сельский сектор услуг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77240" y="51755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7" name="Text 23"/>
          <p:cNvSpPr/>
          <p:nvPr/>
        </p:nvSpPr>
        <p:spPr>
          <a:xfrm>
            <a:off x="103327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маршруты перегружены, а какие простаивают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532120" y="51755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9" name="Text 25"/>
          <p:cNvSpPr/>
          <p:nvPr/>
        </p:nvSpPr>
        <p:spPr>
          <a:xfrm>
            <a:off x="578815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доля расчётов вышла из наличного оборота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ТЕХНОЛОГИЧЕСКОЕ ЯДРО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Искусственный интеллект как инфраструктура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190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SAFRON решает четыре прикладные задачи. Ни одна из них не является украшением — каждая снимает конкретный барьер между туристом, поставщиком и государством.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Языковой барьер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меню, вывесок и диалогов с учётом культурного контекста, а не дословно.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51560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 перестаёт зависеть от гида в бытовых ситуациях.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86836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61156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115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61156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Пищевая безопасность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61156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состава блюд и аллергенов по фотографии меню.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61156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1156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Снимается риск для туристов с ограничениями по питанию.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96432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70752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075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70752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Качество предложения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70752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перевод и приведение описаний услуг к единому стандарту.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70752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70752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Сельский поставщик выглядит на витрине не хуже столичного отеля.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06027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80347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0347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80347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Планирование маршрута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80347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и пересборка программы тура с учётом бюджета, логистики и загруженности объектов.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180347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80347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Агентство собирает маршрут за минуты вместо часов.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 ЦЕННОСТЬ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E-Mehmon: от ручной формы к автоматическому потоку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5090008" cy="2615184"/>
          </a:xfrm>
          <a:prstGeom prst="roundRect">
            <a:avLst>
              <a:gd name="adj" fmla="val 2098"/>
            </a:avLst>
          </a:prstGeom>
          <a:solidFill>
            <a:srgbClr val="F2EFE8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61288" y="2066544"/>
            <a:ext cx="432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1288" y="2450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35608" y="2450592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вручную переписывает данные из паспорта каждого гостя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61288" y="29260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35608" y="2926080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ввода искажают национальную статистику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61288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35608" y="3401568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подаётся с задержкой и не поддаётся сверке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61288" y="38770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35608" y="3877056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Сельские услуги вообще не попадают в учёт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24448" y="1828800"/>
            <a:ext cx="5090008" cy="2615184"/>
          </a:xfrm>
          <a:prstGeom prst="roundRect">
            <a:avLst>
              <a:gd name="adj" fmla="val 2098"/>
            </a:avLst>
          </a:prstGeom>
          <a:solidFill>
            <a:srgbClr val="0A2320"/>
          </a:solidFill>
          <a:ln/>
        </p:spPr>
      </p:sp>
      <p:sp>
        <p:nvSpPr>
          <p:cNvPr id="16" name="Text 13"/>
          <p:cNvSpPr/>
          <p:nvPr/>
        </p:nvSpPr>
        <p:spPr>
          <a:xfrm>
            <a:off x="6708496" y="2066544"/>
            <a:ext cx="432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ПЛАТФОРМОЙ SAFRON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08496" y="2450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82816" y="2450592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распознаётся камерой, поля заполняются автоматически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08496" y="29260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82816" y="2926080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поступают в машиночитаемом виде без ручного ввода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08496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82816" y="3401568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формируется в момент бронирования, а не постфактум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08496" y="38770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82816" y="3877056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сельская услуга становится учтённой транзакцией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" y="470001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Соответствие стратегии «Цифровой Узбекистан — 2030»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77240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госуслуги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Отраслевой сервис вместо бумажного документооборота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99178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туризм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399178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исполнение дорожной карты Smart Tourism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21117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данных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21117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набор данных о туристическом потоке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4  ·  СИСТЕМНЫЕ РЕШЕНИЯ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Управление турпотоком как государственный инструмент</a:t>
            </a:r>
            <a:endParaRPr lang="en-US" sz="30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326880" y="3566160"/>
            <a:ext cx="329184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5090008" cy="3584448"/>
          </a:xfrm>
          <a:prstGeom prst="roundRect">
            <a:avLst>
              <a:gd name="adj" fmla="val 1531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61288" y="2231136"/>
            <a:ext cx="457200" cy="457200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128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61288" y="2816352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динамического перераспределения потока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161288" y="3529584"/>
            <a:ext cx="4321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в реальном времени считает плотность туристов у ключевых объектов. При перегрузке Регистана или Ичан-Калы система автоматически повышает видимость и привлекательность альтернативных маршрутов того же региона — и предлагает их туристу до того, как он окажется в очереди.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161288" y="4700016"/>
            <a:ext cx="43219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61288" y="488746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3" name="Text 9"/>
          <p:cNvSpPr/>
          <p:nvPr/>
        </p:nvSpPr>
        <p:spPr>
          <a:xfrm>
            <a:off x="1380744" y="4809744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нагрузки на объекты культурного наследия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1161288" y="51252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5" name="Text 11"/>
          <p:cNvSpPr/>
          <p:nvPr/>
        </p:nvSpPr>
        <p:spPr>
          <a:xfrm>
            <a:off x="1380744" y="5047488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загрузки недозагруженных регионов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1161288" y="5362956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7" name="Text 13"/>
          <p:cNvSpPr/>
          <p:nvPr/>
        </p:nvSpPr>
        <p:spPr>
          <a:xfrm>
            <a:off x="1380744" y="5285232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потоком без запретов и квот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324448" y="1956816"/>
            <a:ext cx="5090008" cy="3584448"/>
          </a:xfrm>
          <a:prstGeom prst="roundRect">
            <a:avLst>
              <a:gd name="adj" fmla="val 1531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08496" y="2231136"/>
            <a:ext cx="457200" cy="457200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0849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08496" y="2816352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Пул ресурсов между агентствами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708496" y="3529584"/>
            <a:ext cx="4321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гид, место в автобусе или незанятый номер одного оператора становятся доступны другому через защищённый B2B-обмен внутри платформы. Простаивающая ёмкость отрасли превращается в выручку.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708496" y="4700016"/>
            <a:ext cx="43219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08496" y="488746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5" name="Text 21"/>
          <p:cNvSpPr/>
          <p:nvPr/>
        </p:nvSpPr>
        <p:spPr>
          <a:xfrm>
            <a:off x="6927952" y="4809744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простоя транспорта и гидов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6708496" y="51252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7" name="Text 23"/>
          <p:cNvSpPr/>
          <p:nvPr/>
        </p:nvSpPr>
        <p:spPr>
          <a:xfrm>
            <a:off x="6927952" y="5047488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Способность отрасли принять пиковый сезон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6708496" y="5362956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9" name="Text 25"/>
          <p:cNvSpPr/>
          <p:nvPr/>
        </p:nvSpPr>
        <p:spPr>
          <a:xfrm>
            <a:off x="6927952" y="5285232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Кооперация вместо разрозненности рынка</a:t>
            </a:r>
            <a:endParaRPr lang="en-US" sz="98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ОСНОВА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6"/>
              </a:lnSpc>
              <a:buNone/>
            </a:pPr>
            <a:r>
              <a:rPr lang="en-US" sz="31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рассчитана на национальный масштаб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77240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8136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Интерфейсы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88136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TypeScript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8136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независимо разворачиваемых приложения в едином репозитории с общей библиотекой компонентов.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99178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10074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10074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· PostGIS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10074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Геопространственные запросы для карт и тепловых карт выполняются в самой базе, без внешних сервисов.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21117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32013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Доступ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32013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· JWT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332013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доступа заданы на уровне строк базы данных, а не в коде приложения — обойти их невозможно.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88136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Реальное время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88136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Realtime-подписки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88136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статуса поставщика доходит до агентства и туриста менее чем за секунду.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99178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10074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Мобильность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10074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Service Worker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10074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по QR-коду без магазинов приложений. Карты и базовые фразы доступны офлайн.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21117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32013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Интеграции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32013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· ИИ · Payme / Click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32013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платёжные системы как основной канал расчётов, международные — как дополнительный.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" y="5541264"/>
            <a:ext cx="10637215" cy="512064"/>
          </a:xfrm>
          <a:prstGeom prst="roundRect">
            <a:avLst>
              <a:gd name="adj" fmla="val 10714"/>
            </a:avLst>
          </a:prstGeom>
          <a:solidFill>
            <a:srgbClr val="EFEE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5541264"/>
            <a:ext cx="9905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показатели: отклик API менее 200 мс · загрузка карты менее 2 секунд · 10 000 одновременных пользователей на старте, 100 000 — на втором году.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И СООТВЕТСТВИЕ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 и доступность заложены изначально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8136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Защита данных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88136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88136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при передаче, AES-256 при хранении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1088136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88136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доступа на уровне строк базы данных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1088136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88136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по принципам GDPR с первого дня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1088136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Обезличивание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8136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Тепловые карты строятся без привязки к личности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4399178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10074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B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Доступность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710074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WCAG AA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10074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не ниже 4,5:1, полная навигация с клавиатуры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4710074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Экранные дикторы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10074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разметка ARIA во всех четырёх порталах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4710074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связь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10074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при нестабильном 3G в сельской местности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4710074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экран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10074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Корректная вёрстка от 320 пикселей ширины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8021117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32013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8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Языки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8332013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этап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32013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Узбекский, русский, английский — интерфейс и контент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8332013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этап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32013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Французский, китайский, арабский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8332013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Автоперевод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32013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Описания услуг переводятся ИИ при публикации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8332013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332013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Корректное отображение кириллицы и латиницы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Это не концепция — платформа уже работает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37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прошёл три этапа разработки на собственные средства команды. Функционирующая система с реальной базой данных доступна для демонстрации сегодня.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2514600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2514600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2D8A4E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880360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3736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Интерфейсы и ядро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044952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3044952"/>
            <a:ext cx="3497580" cy="100584"/>
          </a:xfrm>
          <a:prstGeom prst="roundRect">
            <a:avLst>
              <a:gd name="adj" fmla="val 50000"/>
            </a:avLst>
          </a:prstGeom>
          <a:solidFill>
            <a:srgbClr val="D9972B"/>
          </a:solidFill>
          <a:ln/>
        </p:spPr>
      </p:sp>
      <p:sp>
        <p:nvSpPr>
          <p:cNvPr id="16" name="Text 13"/>
          <p:cNvSpPr/>
          <p:nvPr/>
        </p:nvSpPr>
        <p:spPr>
          <a:xfrm>
            <a:off x="854964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 на 85%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3410712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4381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37360" y="3438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3575304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21" name="Shape 18"/>
          <p:cNvSpPr/>
          <p:nvPr/>
        </p:nvSpPr>
        <p:spPr>
          <a:xfrm>
            <a:off x="4206240" y="3575304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2D8A4E"/>
          </a:solidFill>
          <a:ln/>
        </p:spPr>
      </p:sp>
      <p:sp>
        <p:nvSpPr>
          <p:cNvPr id="22" name="Text 19"/>
          <p:cNvSpPr/>
          <p:nvPr/>
        </p:nvSpPr>
        <p:spPr>
          <a:xfrm>
            <a:off x="8549640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7240" y="3941064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3736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 карты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06240" y="4105656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27" name="Text 24"/>
          <p:cNvSpPr/>
          <p:nvPr/>
        </p:nvSpPr>
        <p:spPr>
          <a:xfrm>
            <a:off x="85496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финансирования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447141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498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737360" y="4498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Госконтур и запуск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06240" y="4636008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32" name="Text 29"/>
          <p:cNvSpPr/>
          <p:nvPr/>
        </p:nvSpPr>
        <p:spPr>
          <a:xfrm>
            <a:off x="854964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финансирования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77240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34" name="Text 31"/>
          <p:cNvSpPr/>
          <p:nvPr/>
        </p:nvSpPr>
        <p:spPr>
          <a:xfrm>
            <a:off x="1088136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500" dirty="0"/>
          </a:p>
        </p:txBody>
      </p:sp>
      <p:sp>
        <p:nvSpPr>
          <p:cNvPr id="35" name="Text 32"/>
          <p:cNvSpPr/>
          <p:nvPr/>
        </p:nvSpPr>
        <p:spPr>
          <a:xfrm>
            <a:off x="2478024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портала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развёрнуты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99178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37" name="Text 34"/>
          <p:cNvSpPr/>
          <p:nvPr/>
        </p:nvSpPr>
        <p:spPr>
          <a:xfrm>
            <a:off x="4710074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500" dirty="0"/>
          </a:p>
        </p:txBody>
      </p:sp>
      <p:sp>
        <p:nvSpPr>
          <p:cNvPr id="38" name="Text 35"/>
          <p:cNvSpPr/>
          <p:nvPr/>
        </p:nvSpPr>
        <p:spPr>
          <a:xfrm>
            <a:off x="6099962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фиктивных данных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системе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21117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40" name="Text 37"/>
          <p:cNvSpPr/>
          <p:nvPr/>
        </p:nvSpPr>
        <p:spPr>
          <a:xfrm>
            <a:off x="8332013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9721901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бронирований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реальном времени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финансирование открывает в ближайшие 12 месяцев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9848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1–3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Завершение этапа 3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69848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9848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0" name="Text 7"/>
          <p:cNvSpPr/>
          <p:nvPr/>
        </p:nvSpPr>
        <p:spPr>
          <a:xfrm>
            <a:off x="1289304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Сканер меню на базе ИИ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1069848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2" name="Text 9"/>
          <p:cNvSpPr/>
          <p:nvPr/>
        </p:nvSpPr>
        <p:spPr>
          <a:xfrm>
            <a:off x="1289304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Контекстный переводчик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9848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4" name="Text 11"/>
          <p:cNvSpPr/>
          <p:nvPr/>
        </p:nvSpPr>
        <p:spPr>
          <a:xfrm>
            <a:off x="1289304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выживания на Mapbox и PostGIS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069848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6" name="Text 13"/>
          <p:cNvSpPr/>
          <p:nvPr/>
        </p:nvSpPr>
        <p:spPr>
          <a:xfrm>
            <a:off x="1289304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маршрутов с автопересчётом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486836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9444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4–6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79444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Государственный контур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779444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79444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2" name="Text 19"/>
          <p:cNvSpPr/>
          <p:nvPr/>
        </p:nvSpPr>
        <p:spPr>
          <a:xfrm>
            <a:off x="3998900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паспортов и выгрузка E-Mehmon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3779444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4" name="Text 21"/>
          <p:cNvSpPr/>
          <p:nvPr/>
        </p:nvSpPr>
        <p:spPr>
          <a:xfrm>
            <a:off x="3998900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Payme и Click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779444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6" name="Text 23"/>
          <p:cNvSpPr/>
          <p:nvPr/>
        </p:nvSpPr>
        <p:spPr>
          <a:xfrm>
            <a:off x="3998900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 сельским поставщикам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3779444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8" name="Text 25"/>
          <p:cNvSpPr/>
          <p:nvPr/>
        </p:nvSpPr>
        <p:spPr>
          <a:xfrm>
            <a:off x="3998900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безопасности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196432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89040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7–9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89040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Пилот в регионах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6489040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89040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4" name="Text 31"/>
          <p:cNvSpPr/>
          <p:nvPr/>
        </p:nvSpPr>
        <p:spPr>
          <a:xfrm>
            <a:off x="6708496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проверенных поставщиков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6489040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6" name="Text 33"/>
          <p:cNvSpPr/>
          <p:nvPr/>
        </p:nvSpPr>
        <p:spPr>
          <a:xfrm>
            <a:off x="6708496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агентств-партнёров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6489040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8" name="Text 35"/>
          <p:cNvSpPr/>
          <p:nvPr/>
        </p:nvSpPr>
        <p:spPr>
          <a:xfrm>
            <a:off x="6708496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регион: Навои и Нурата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6489040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0" name="Text 37"/>
          <p:cNvSpPr/>
          <p:nvPr/>
        </p:nvSpPr>
        <p:spPr>
          <a:xfrm>
            <a:off x="6708496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поставщиков на местах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8906027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98635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10–12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198635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Национальный запуск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9198635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198635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6" name="Text 43"/>
          <p:cNvSpPr/>
          <p:nvPr/>
        </p:nvSpPr>
        <p:spPr>
          <a:xfrm>
            <a:off x="9418091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QR-точки в аэропортах и гостиницах</a:t>
            </a:r>
            <a:endParaRPr lang="en-US" sz="980" dirty="0"/>
          </a:p>
        </p:txBody>
      </p:sp>
      <p:sp>
        <p:nvSpPr>
          <p:cNvPr id="47" name="Shape 44"/>
          <p:cNvSpPr/>
          <p:nvPr/>
        </p:nvSpPr>
        <p:spPr>
          <a:xfrm>
            <a:off x="9198635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8" name="Text 45"/>
          <p:cNvSpPr/>
          <p:nvPr/>
        </p:nvSpPr>
        <p:spPr>
          <a:xfrm>
            <a:off x="9418091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Перераспределение турпотока</a:t>
            </a:r>
            <a:endParaRPr lang="en-US" sz="980" dirty="0"/>
          </a:p>
        </p:txBody>
      </p:sp>
      <p:sp>
        <p:nvSpPr>
          <p:cNvPr id="49" name="Shape 46"/>
          <p:cNvSpPr/>
          <p:nvPr/>
        </p:nvSpPr>
        <p:spPr>
          <a:xfrm>
            <a:off x="9198635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50" name="Text 47"/>
          <p:cNvSpPr/>
          <p:nvPr/>
        </p:nvSpPr>
        <p:spPr>
          <a:xfrm>
            <a:off x="9418091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ресурсов между агентствами</a:t>
            </a:r>
            <a:endParaRPr lang="en-US" sz="980" dirty="0"/>
          </a:p>
        </p:txBody>
      </p:sp>
      <p:sp>
        <p:nvSpPr>
          <p:cNvPr id="51" name="Shape 48"/>
          <p:cNvSpPr/>
          <p:nvPr/>
        </p:nvSpPr>
        <p:spPr>
          <a:xfrm>
            <a:off x="9198635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52" name="Text 49"/>
          <p:cNvSpPr/>
          <p:nvPr/>
        </p:nvSpPr>
        <p:spPr>
          <a:xfrm>
            <a:off x="9418091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три языка интерфейса</a:t>
            </a:r>
            <a:endParaRPr lang="en-US" sz="980" dirty="0"/>
          </a:p>
        </p:txBody>
      </p:sp>
      <p:sp>
        <p:nvSpPr>
          <p:cNvPr id="53" name="Text 50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ПЛАТФОРМЫ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дохода и целевые показатели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73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Источники дохода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с бронирований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478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от стоимости услуги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7249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ИСТОЧНИК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2999232"/>
            <a:ext cx="493776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072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для агентств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живому инвентарю и CRM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B2B-ДОХОД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840480"/>
            <a:ext cx="493776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913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на витрине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4160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показа для проверенных поставщиков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44074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ДОХОД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63640" y="1773936"/>
            <a:ext cx="5150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Целевой оборот платформы (GMV), тыс. $</a:t>
            </a:r>
            <a:endParaRPr lang="en-US" sz="17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63640" y="2212848"/>
          <a:ext cx="515081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77724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6012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92354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туристов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90 дней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2932115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114995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78419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проверенных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поставщиков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508699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26987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523329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бронирований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90 дней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7241865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424745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 50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7388169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лояльности NPS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939674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957962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15%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954304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бронирований</a:t>
            </a:r>
            <a:endParaRPr lang="en-US" sz="930" dirty="0"/>
          </a:p>
        </p:txBody>
      </p:sp>
      <p:sp>
        <p:nvSpPr>
          <p:cNvPr id="34" name="Text 30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СОЦИАЛЬНО-ЭКОНОМИЧЕСКИЙ ЭФФЕКТ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6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получает страна, а не только платформа</a:t>
            </a:r>
            <a:endParaRPr lang="en-US" sz="31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692640" y="457200"/>
            <a:ext cx="2926080" cy="2926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06424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Легализация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сельского дохода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106424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Наличные расчёты заменяются учтёнными транзакциями. Расширяется налоговая база без повышения ставок.</a:t>
            </a:r>
            <a:endParaRPr lang="en-US" sz="1020" dirty="0"/>
          </a:p>
        </p:txBody>
      </p:sp>
      <p:sp>
        <p:nvSpPr>
          <p:cNvPr id="9" name="Shape 5"/>
          <p:cNvSpPr/>
          <p:nvPr/>
        </p:nvSpPr>
        <p:spPr>
          <a:xfrm>
            <a:off x="4399178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28362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Выравнивание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турпотока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28362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перераспределяется от пяти перегруженных объектов к десяткам недозагруженных регионов.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8021117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50301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Сохранение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наследия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350301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нагрузки на объекты ЮНЕСКО за счёт управления потоком, а не ограничений.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777240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06424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Занятость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регионах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106424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Ремесленник, проводник и владелец юрты получают прямой канал сбыта без посредника.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4399178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28362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Качество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 безопасность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28362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поставщиков и рейтинги формируют предсказуемый стандарт услуги.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8021117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50301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Национальные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350301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появляется достоверная картина туристического потока в реальном времени.</a:t>
            </a:r>
            <a:endParaRPr lang="en-US" sz="1020" dirty="0"/>
          </a:p>
        </p:txBody>
      </p:sp>
      <p:sp>
        <p:nvSpPr>
          <p:cNvPr id="24" name="Text 20"/>
          <p:cNvSpPr/>
          <p:nvPr/>
        </p:nvSpPr>
        <p:spPr>
          <a:xfrm>
            <a:off x="777240" y="57241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год: не менее $20 000 дохода, поступившего напрямую сельским поставщикам, и 200 транзакций, выведенных из наличного оборота.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Риски названы заранее и закрыты мерами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73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54880" y="1773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52160" y="1773936"/>
            <a:ext cx="5196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СНИЖЕНИЯ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77240" y="2084832"/>
            <a:ext cx="10637215" cy="0"/>
          </a:xfrm>
          <a:prstGeom prst="line">
            <a:avLst/>
          </a:prstGeom>
          <a:noFill/>
          <a:ln w="12700">
            <a:solidFill>
              <a:srgbClr val="0A23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21284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связь в сельской местности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52160" y="221284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Агрессивное офлайн-кеширование, минимальный объём данных в приложении поставщика.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77240" y="277977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8712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государственным системам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99008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29900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0" y="2871216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запросов с повторными попытками, независимое распознавание документов и ручной резервный сценарий.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777240" y="3438144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52958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Низкие цифровые навыки поставщиков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54880" y="364845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648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52160" y="3529584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из одной кнопки, регистрация по SMS, обучение на местах в пилотном регионе.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777240" y="4096512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1879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внешних ИИ-сервисов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0" y="430682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43068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52160" y="4187952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Кеширование частых запросов, лимиты на пользователя, бюджетные оповещения.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84632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иностранных платежей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754880" y="496519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496519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52160" y="4846320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и Click как основной канал расчётов; международные системы — дополнительный.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77240" y="5413248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" y="55046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PWA на iOS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54880" y="56235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36" name="Text 33"/>
          <p:cNvSpPr/>
          <p:nvPr/>
        </p:nvSpPr>
        <p:spPr>
          <a:xfrm>
            <a:off x="4754880" y="56235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852160" y="550468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в Safari и альтернативный интерфейс для неподдерживаемых функций.</a:t>
            </a:r>
            <a:endParaRPr lang="en-US" sz="1030" dirty="0"/>
          </a:p>
        </p:txBody>
      </p:sp>
      <p:sp>
        <p:nvSpPr>
          <p:cNvPr id="38" name="Shape 35"/>
          <p:cNvSpPr/>
          <p:nvPr/>
        </p:nvSpPr>
        <p:spPr>
          <a:xfrm>
            <a:off x="777240" y="607161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Цифровая туристическая экосистема Узбекистана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9052560" y="3703320"/>
            <a:ext cx="3291840" cy="3291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82296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76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 чём мы просим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77240" y="17190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12 месяцев — на завершение этапов 3 и 4, региональный пилот и национальный запуск.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7724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28800" y="25054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инженерная команда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828800" y="27340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5–6 специалистов на 12 месяцев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777240" y="303580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3127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828800" y="31455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интеграции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828800" y="33741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E-Mehmon, Payme и Click, аудит безопасности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77240" y="367588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767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828800" y="37856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пилот и обучение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828800" y="4014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поставщиков, полевая работа, обучение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77240" y="431596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4407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828800" y="44256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и внешние сервисы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828800" y="4654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Хостинг, картография, ИИ-сервисы, мониторинг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77240" y="495604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5047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828800" y="50657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распространение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828800" y="52943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QR-точки, материалы, работа с агентствами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777240" y="559612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26680" y="2377440"/>
            <a:ext cx="3687775" cy="3310128"/>
          </a:xfrm>
          <a:prstGeom prst="roundRect">
            <a:avLst>
              <a:gd name="adj" fmla="val 1657"/>
            </a:avLst>
          </a:prstGeom>
          <a:solidFill>
            <a:srgbClr val="10312C"/>
          </a:solidFill>
          <a:ln w="9525">
            <a:solidFill>
              <a:srgbClr val="2A4A4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92440" y="2615184"/>
            <a:ext cx="2956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Помимо средств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8092440" y="314553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E-Mehmon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092440" y="337413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интерфейс для автоматической передачи данных гостей</a:t>
            </a:r>
            <a:endParaRPr lang="en-US" sz="960" dirty="0"/>
          </a:p>
        </p:txBody>
      </p:sp>
      <p:sp>
        <p:nvSpPr>
          <p:cNvPr id="31" name="Text 27"/>
          <p:cNvSpPr/>
          <p:nvPr/>
        </p:nvSpPr>
        <p:spPr>
          <a:xfrm>
            <a:off x="8092440" y="378561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партнёра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092440" y="401421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Официальное признание платформы отраслевым решением</a:t>
            </a:r>
            <a:endParaRPr lang="en-US" sz="960" dirty="0"/>
          </a:p>
        </p:txBody>
      </p:sp>
      <p:sp>
        <p:nvSpPr>
          <p:cNvPr id="33" name="Text 29"/>
          <p:cNvSpPr/>
          <p:nvPr/>
        </p:nvSpPr>
        <p:spPr>
          <a:xfrm>
            <a:off x="8092440" y="442569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регион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8092440" y="465429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Навои и Нураты как площадки первого этапа</a:t>
            </a:r>
            <a:endParaRPr lang="en-US" sz="960" dirty="0"/>
          </a:p>
        </p:txBody>
      </p:sp>
      <p:sp>
        <p:nvSpPr>
          <p:cNvPr id="35" name="Text 31"/>
          <p:cNvSpPr/>
          <p:nvPr/>
        </p:nvSpPr>
        <p:spPr>
          <a:xfrm>
            <a:off x="8092440" y="506577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распространения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8092440" y="529437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QR-кодов в аэропортах и пунктах пропуска</a:t>
            </a:r>
            <a:endParaRPr lang="en-US" sz="960" dirty="0"/>
          </a:p>
        </p:txBody>
      </p:sp>
      <p:sp>
        <p:nvSpPr>
          <p:cNvPr id="37" name="Text 33"/>
          <p:cNvSpPr/>
          <p:nvPr/>
        </p:nvSpPr>
        <p:spPr>
          <a:xfrm>
            <a:off x="777240" y="5833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сумма запроса и постатейная смета приводятся в приложении к заявке.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4087368" y="960120"/>
            <a:ext cx="4023360" cy="4023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233172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Туристический поток у страны уже есть.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822960" y="29260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Осталось построить инфраструктуру, которая им управляет.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937760" y="3913632"/>
            <a:ext cx="2286000" cy="0"/>
          </a:xfrm>
          <a:prstGeom prst="line">
            <a:avLst/>
          </a:prstGeom>
          <a:noFill/>
          <a:ln w="12700">
            <a:solidFill>
              <a:srgbClr val="2A4A44"/>
            </a:solidFill>
            <a:prstDash val="solid"/>
          </a:ln>
        </p:spPr>
      </p:sp>
      <p:pic>
        <p:nvPicPr>
          <p:cNvPr id="7" name="Image 2" descr="assets/logo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4261104"/>
            <a:ext cx="2286000" cy="7223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5285232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провести живую демонстрацию платформы в удобное для вас время.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463040" y="565099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5E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SAFRON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SAFRON — Цифровая туристическая экосистема Узбекистана</dc:title>
  <dc:subject>PptxGenJS Presentation</dc:subject>
  <dc:creator>SAFRON</dc:creator>
  <cp:lastModifiedBy>SAFRON</cp:lastModifiedBy>
  <cp:revision>1</cp:revision>
  <dcterms:created xsi:type="dcterms:W3CDTF">2026-08-09T01:20:03Z</dcterms:created>
  <dcterms:modified xsi:type="dcterms:W3CDTF">2026-08-09T01:20:03Z</dcterms:modified>
</cp:coreProperties>
</file>